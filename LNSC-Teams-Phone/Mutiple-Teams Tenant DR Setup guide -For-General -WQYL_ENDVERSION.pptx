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notesMasterIdLst>
    <p:notesMasterId r:id="rId28"/>
  </p:notesMasterIdLst>
  <p:sldIdLst>
    <p:sldId id="540" r:id="rId6"/>
    <p:sldId id="539" r:id="rId7"/>
    <p:sldId id="527" r:id="rId8"/>
    <p:sldId id="537" r:id="rId9"/>
    <p:sldId id="541" r:id="rId10"/>
    <p:sldId id="542" r:id="rId11"/>
    <p:sldId id="528" r:id="rId12"/>
    <p:sldId id="543" r:id="rId13"/>
    <p:sldId id="529" r:id="rId14"/>
    <p:sldId id="552" r:id="rId15"/>
    <p:sldId id="545" r:id="rId16"/>
    <p:sldId id="547" r:id="rId17"/>
    <p:sldId id="546" r:id="rId18"/>
    <p:sldId id="530" r:id="rId19"/>
    <p:sldId id="548" r:id="rId20"/>
    <p:sldId id="549" r:id="rId21"/>
    <p:sldId id="553" r:id="rId22"/>
    <p:sldId id="533" r:id="rId23"/>
    <p:sldId id="554" r:id="rId24"/>
    <p:sldId id="550" r:id="rId25"/>
    <p:sldId id="551" r:id="rId26"/>
    <p:sldId id="534" r:id="rId2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4072"/>
    <a:srgbClr val="0E4681"/>
    <a:srgbClr val="DAA600"/>
    <a:srgbClr val="254275"/>
    <a:srgbClr val="30A4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24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110" y="1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EEF64C-8DB2-49ED-A0A4-1CD7F7B6B436}" type="datetimeFigureOut">
              <a:rPr lang="en-US" smtClean="0"/>
              <a:t>3/27/2024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E25D25-9EB0-4CF7-BF2C-422EAD164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79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company/audiocodes/" TargetMode="External"/><Relationship Id="rId13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12" Type="http://schemas.openxmlformats.org/officeDocument/2006/relationships/hyperlink" Target="http://blog.audiocodes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facebook.com/audiocodes" TargetMode="External"/><Relationship Id="rId11" Type="http://schemas.openxmlformats.org/officeDocument/2006/relationships/image" Target="../media/image11.png"/><Relationship Id="rId5" Type="http://schemas.openxmlformats.org/officeDocument/2006/relationships/image" Target="../media/image8.png"/><Relationship Id="rId10" Type="http://schemas.openxmlformats.org/officeDocument/2006/relationships/hyperlink" Target="http://www.youtube.com/user/audioserge" TargetMode="External"/><Relationship Id="rId4" Type="http://schemas.openxmlformats.org/officeDocument/2006/relationships/hyperlink" Target="https://twitter.com/AudioCodes" TargetMode="External"/><Relationship Id="rId9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D8F3067-679B-49BB-A856-8C4868249854}"/>
              </a:ext>
            </a:extLst>
          </p:cNvPr>
          <p:cNvSpPr/>
          <p:nvPr userDrawn="1"/>
        </p:nvSpPr>
        <p:spPr>
          <a:xfrm>
            <a:off x="7250905" y="264319"/>
            <a:ext cx="1821657" cy="5643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73319D9-B939-4A72-B326-1950A43950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54" y="0"/>
            <a:ext cx="9141292" cy="514350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3C5173D-FA78-47B6-8607-AEA50BF1699D}"/>
              </a:ext>
            </a:extLst>
          </p:cNvPr>
          <p:cNvCxnSpPr/>
          <p:nvPr userDrawn="1"/>
        </p:nvCxnSpPr>
        <p:spPr>
          <a:xfrm>
            <a:off x="4458499" y="1988539"/>
            <a:ext cx="0" cy="1371600"/>
          </a:xfrm>
          <a:prstGeom prst="line">
            <a:avLst/>
          </a:prstGeom>
          <a:ln>
            <a:solidFill>
              <a:srgbClr val="30A4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54CB8C3-1D1E-43F1-9A49-83A5EC1184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89251" y="2133600"/>
            <a:ext cx="4194075" cy="439119"/>
          </a:xfrm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buNone/>
              <a:defRPr lang="en-US" sz="2200" kern="1200" dirty="0">
                <a:solidFill>
                  <a:srgbClr val="0E468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Presentation Subject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6AE1356-7256-495C-B18E-047268BE2C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89250" y="2626928"/>
            <a:ext cx="4194075" cy="285605"/>
          </a:xfrm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buNone/>
              <a:defRPr lang="en-US" sz="1400" kern="1200" dirty="0">
                <a:solidFill>
                  <a:srgbClr val="30A4DC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5pPr marL="1371600" indent="0" algn="l">
              <a:buNone/>
              <a:defRPr/>
            </a:lvl5pPr>
          </a:lstStyle>
          <a:p>
            <a:pPr lvl="0"/>
            <a:r>
              <a:rPr lang="en-US" dirty="0"/>
              <a:t>Presenter Name | Title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0FF460F9-72C8-4C75-A644-61208DADA32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51" y="2953222"/>
            <a:ext cx="4030662" cy="270888"/>
          </a:xfrm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buNone/>
              <a:defRPr lang="en-US" sz="105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5pPr marL="1371600" indent="0" algn="l">
              <a:buNone/>
              <a:defRPr/>
            </a:lvl5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71763E-6AD2-41F6-BF8C-083345BA81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" r="-343"/>
          <a:stretch/>
        </p:blipFill>
        <p:spPr>
          <a:xfrm>
            <a:off x="670940" y="2286071"/>
            <a:ext cx="3655241" cy="57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474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7650" y="967341"/>
            <a:ext cx="7981950" cy="3263504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BBFF9E-0DF4-4712-BB1F-E5FF2967AB0C}"/>
              </a:ext>
            </a:extLst>
          </p:cNvPr>
          <p:cNvCxnSpPr>
            <a:cxnSpLocks/>
          </p:cNvCxnSpPr>
          <p:nvPr userDrawn="1"/>
        </p:nvCxnSpPr>
        <p:spPr>
          <a:xfrm>
            <a:off x="247650" y="730250"/>
            <a:ext cx="687705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0529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651" y="967430"/>
            <a:ext cx="4265984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929" y="967430"/>
            <a:ext cx="4265984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81F02AB-4709-4A7E-A313-97375FEE587F}"/>
              </a:ext>
            </a:extLst>
          </p:cNvPr>
          <p:cNvCxnSpPr>
            <a:cxnSpLocks/>
          </p:cNvCxnSpPr>
          <p:nvPr userDrawn="1"/>
        </p:nvCxnSpPr>
        <p:spPr>
          <a:xfrm>
            <a:off x="247650" y="730250"/>
            <a:ext cx="687705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1193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E08E07-E79C-463E-BC30-D4E437C79537}"/>
              </a:ext>
            </a:extLst>
          </p:cNvPr>
          <p:cNvCxnSpPr>
            <a:cxnSpLocks/>
          </p:cNvCxnSpPr>
          <p:nvPr userDrawn="1"/>
        </p:nvCxnSpPr>
        <p:spPr>
          <a:xfrm>
            <a:off x="247650" y="730250"/>
            <a:ext cx="687705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2083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0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EEB176-1AFF-4380-BC51-D5011630DC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54" y="0"/>
            <a:ext cx="9141292" cy="514350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E3FDEEE-FBC9-42FA-86BA-E837EA9885ED}"/>
              </a:ext>
            </a:extLst>
          </p:cNvPr>
          <p:cNvCxnSpPr/>
          <p:nvPr userDrawn="1"/>
        </p:nvCxnSpPr>
        <p:spPr>
          <a:xfrm>
            <a:off x="4528349" y="1956789"/>
            <a:ext cx="0" cy="1371600"/>
          </a:xfrm>
          <a:prstGeom prst="line">
            <a:avLst/>
          </a:prstGeom>
          <a:ln>
            <a:solidFill>
              <a:srgbClr val="30A4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52291DD-0E69-40A2-BBAF-8FBFC3C2D6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0942" y="2133600"/>
            <a:ext cx="4030662" cy="439119"/>
          </a:xfrm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buNone/>
              <a:defRPr lang="en-US" sz="2200" kern="1200" dirty="0">
                <a:solidFill>
                  <a:srgbClr val="0E468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Section Topic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950E7DB-8BAD-42D8-97BE-08D3CAA41C5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70941" y="2626928"/>
            <a:ext cx="4030662" cy="373661"/>
          </a:xfrm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buNone/>
              <a:defRPr lang="en-US" sz="1600" kern="1200" dirty="0">
                <a:solidFill>
                  <a:srgbClr val="30A4DC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5pPr marL="1371600" indent="0" algn="l">
              <a:buNone/>
              <a:defRPr/>
            </a:lvl5pPr>
          </a:lstStyle>
          <a:p>
            <a:pPr lvl="0"/>
            <a:r>
              <a:rPr lang="en-US" dirty="0"/>
              <a:t>Section Overview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26E80F8-CEFA-4753-8377-7088F7E1A0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" r="-343"/>
          <a:stretch/>
        </p:blipFill>
        <p:spPr>
          <a:xfrm>
            <a:off x="670940" y="2286071"/>
            <a:ext cx="3655241" cy="57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682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0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9F7616-F67F-485E-8B9E-2361D1A2B5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08" y="0"/>
            <a:ext cx="9141292" cy="51435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8BE1F38-1E59-405A-AB70-92D6B664035F}"/>
              </a:ext>
            </a:extLst>
          </p:cNvPr>
          <p:cNvCxnSpPr/>
          <p:nvPr userDrawn="1"/>
        </p:nvCxnSpPr>
        <p:spPr>
          <a:xfrm>
            <a:off x="4528349" y="1956789"/>
            <a:ext cx="0" cy="1371600"/>
          </a:xfrm>
          <a:prstGeom prst="line">
            <a:avLst/>
          </a:prstGeom>
          <a:ln>
            <a:solidFill>
              <a:srgbClr val="30A4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26273F7C-8A42-4636-9C40-912F051058B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0942" y="2133600"/>
            <a:ext cx="4030662" cy="439119"/>
          </a:xfrm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buNone/>
              <a:defRPr lang="en-US" sz="2200" kern="1200" dirty="0">
                <a:solidFill>
                  <a:srgbClr val="0E468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Section Topic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BC662EA4-8290-4D5B-A79B-BC9261FAE2F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70941" y="2626928"/>
            <a:ext cx="4030662" cy="373661"/>
          </a:xfrm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buNone/>
              <a:defRPr lang="en-US" sz="1600" kern="1200" dirty="0">
                <a:solidFill>
                  <a:srgbClr val="30A4DC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5pPr marL="1371600" indent="0" algn="l">
              <a:buNone/>
              <a:defRPr/>
            </a:lvl5pPr>
          </a:lstStyle>
          <a:p>
            <a:pPr lvl="0"/>
            <a:r>
              <a:rPr lang="en-US" dirty="0"/>
              <a:t>Section Overview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2D4CD1B-0541-48C9-BF7A-7AFD9D82D9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" r="-343"/>
          <a:stretch/>
        </p:blipFill>
        <p:spPr>
          <a:xfrm>
            <a:off x="670940" y="2286071"/>
            <a:ext cx="3655241" cy="57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050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0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3362A9-6406-45BB-B7FA-BB5596AF4D1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54" y="0"/>
            <a:ext cx="9141292" cy="51435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9DD6668-EBC8-400D-BB29-3C556D496E50}"/>
              </a:ext>
            </a:extLst>
          </p:cNvPr>
          <p:cNvCxnSpPr/>
          <p:nvPr userDrawn="1"/>
        </p:nvCxnSpPr>
        <p:spPr>
          <a:xfrm>
            <a:off x="4528349" y="1956789"/>
            <a:ext cx="0" cy="1371600"/>
          </a:xfrm>
          <a:prstGeom prst="line">
            <a:avLst/>
          </a:prstGeom>
          <a:ln>
            <a:solidFill>
              <a:srgbClr val="30A4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64852BE-A123-47FA-B47C-84F302E8A5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0942" y="2133600"/>
            <a:ext cx="4030662" cy="439119"/>
          </a:xfrm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buNone/>
              <a:defRPr lang="en-US" sz="2200" kern="1200" dirty="0">
                <a:solidFill>
                  <a:srgbClr val="0E468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Section Topic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5484766E-2FB0-4B42-BFC1-4CCA1C99B9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70941" y="2626928"/>
            <a:ext cx="4030662" cy="373661"/>
          </a:xfrm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buNone/>
              <a:defRPr lang="en-US" sz="1600" kern="1200" dirty="0">
                <a:solidFill>
                  <a:srgbClr val="30A4DC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5pPr marL="1371600" indent="0" algn="l">
              <a:buNone/>
              <a:defRPr/>
            </a:lvl5pPr>
          </a:lstStyle>
          <a:p>
            <a:pPr lvl="0"/>
            <a:r>
              <a:rPr lang="en-US" dirty="0"/>
              <a:t>Section Overview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9A7611A-B242-4B3C-87D2-4C2F49CDD5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" r="-343"/>
          <a:stretch/>
        </p:blipFill>
        <p:spPr>
          <a:xfrm>
            <a:off x="670940" y="2286071"/>
            <a:ext cx="3655241" cy="57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765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Divider 0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4AFAF6-87EE-4091-9BFC-B37E831275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54" y="0"/>
            <a:ext cx="9141292" cy="51435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9DD6668-EBC8-400D-BB29-3C556D496E50}"/>
              </a:ext>
            </a:extLst>
          </p:cNvPr>
          <p:cNvCxnSpPr/>
          <p:nvPr userDrawn="1"/>
        </p:nvCxnSpPr>
        <p:spPr>
          <a:xfrm>
            <a:off x="4528349" y="1956789"/>
            <a:ext cx="0" cy="1371600"/>
          </a:xfrm>
          <a:prstGeom prst="line">
            <a:avLst/>
          </a:prstGeom>
          <a:ln>
            <a:solidFill>
              <a:srgbClr val="30A4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64852BE-A123-47FA-B47C-84F302E8A5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0942" y="2133600"/>
            <a:ext cx="4030662" cy="439119"/>
          </a:xfrm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buNone/>
              <a:defRPr lang="en-US" sz="2200" kern="1200" dirty="0">
                <a:solidFill>
                  <a:srgbClr val="0E468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Section Topic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5484766E-2FB0-4B42-BFC1-4CCA1C99B9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70941" y="2626928"/>
            <a:ext cx="4030662" cy="373661"/>
          </a:xfrm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buNone/>
              <a:defRPr lang="en-US" sz="1600" kern="1200" dirty="0">
                <a:solidFill>
                  <a:srgbClr val="30A4DC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5pPr marL="1371600" indent="0" algn="l">
              <a:buNone/>
              <a:defRPr/>
            </a:lvl5pPr>
          </a:lstStyle>
          <a:p>
            <a:pPr lvl="0"/>
            <a:r>
              <a:rPr lang="en-US" dirty="0"/>
              <a:t>Section Overview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9A7611A-B242-4B3C-87D2-4C2F49CDD5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" r="-343"/>
          <a:stretch/>
        </p:blipFill>
        <p:spPr>
          <a:xfrm>
            <a:off x="670940" y="2286071"/>
            <a:ext cx="3655241" cy="57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084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9EF256C-F398-47E4-9EC4-DF521E06BF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54" y="0"/>
            <a:ext cx="9141292" cy="51435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7282205B-C5B9-45E0-B694-A15F57857BE3}"/>
              </a:ext>
            </a:extLst>
          </p:cNvPr>
          <p:cNvGrpSpPr/>
          <p:nvPr userDrawn="1"/>
        </p:nvGrpSpPr>
        <p:grpSpPr>
          <a:xfrm>
            <a:off x="1170327" y="1645439"/>
            <a:ext cx="6418915" cy="1890120"/>
            <a:chOff x="991733" y="1552570"/>
            <a:chExt cx="6418915" cy="189012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6AB46BA-A184-440F-B3DB-1D769B484F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75784"/>
            <a:stretch/>
          </p:blipFill>
          <p:spPr>
            <a:xfrm>
              <a:off x="991733" y="1552570"/>
              <a:ext cx="2920662" cy="1890120"/>
            </a:xfrm>
            <a:prstGeom prst="rect">
              <a:avLst/>
            </a:prstGeom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60B3963-F440-46F6-8FC8-D8DF96E1750D}"/>
                </a:ext>
              </a:extLst>
            </p:cNvPr>
            <p:cNvCxnSpPr>
              <a:cxnSpLocks/>
            </p:cNvCxnSpPr>
            <p:nvPr/>
          </p:nvCxnSpPr>
          <p:spPr>
            <a:xfrm>
              <a:off x="4169574" y="1743075"/>
              <a:ext cx="0" cy="1699615"/>
            </a:xfrm>
            <a:prstGeom prst="line">
              <a:avLst/>
            </a:prstGeom>
            <a:ln>
              <a:solidFill>
                <a:srgbClr val="30A4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59A7004-C79F-45D9-A682-BA785772745E}"/>
                </a:ext>
              </a:extLst>
            </p:cNvPr>
            <p:cNvSpPr txBox="1"/>
            <p:nvPr/>
          </p:nvSpPr>
          <p:spPr>
            <a:xfrm>
              <a:off x="4426754" y="2177383"/>
              <a:ext cx="298389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dirty="0">
                  <a:solidFill>
                    <a:srgbClr val="0E468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Thank</a:t>
              </a:r>
              <a:r>
                <a:rPr lang="en-US" sz="4800" dirty="0">
                  <a:solidFill>
                    <a:srgbClr val="30A4DC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You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40261E4-F708-4813-B666-3278FF7CD7AE}"/>
              </a:ext>
            </a:extLst>
          </p:cNvPr>
          <p:cNvSpPr txBox="1"/>
          <p:nvPr userDrawn="1"/>
        </p:nvSpPr>
        <p:spPr>
          <a:xfrm>
            <a:off x="3035030" y="4649820"/>
            <a:ext cx="109410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>
                <a:solidFill>
                  <a:srgbClr val="0E468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Stay in the loop</a:t>
            </a:r>
          </a:p>
        </p:txBody>
      </p:sp>
      <p:pic>
        <p:nvPicPr>
          <p:cNvPr id="12" name="Picture 11">
            <a:hlinkClick r:id="rId4"/>
            <a:extLst>
              <a:ext uri="{FF2B5EF4-FFF2-40B4-BE49-F238E27FC236}">
                <a16:creationId xmlns:a16="http://schemas.microsoft.com/office/drawing/2014/main" id="{8957FA10-0820-4E49-91EE-CB8A2E7A46A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5622" y="4666948"/>
            <a:ext cx="249797" cy="244482"/>
          </a:xfrm>
          <a:prstGeom prst="rect">
            <a:avLst/>
          </a:prstGeom>
        </p:spPr>
      </p:pic>
      <p:pic>
        <p:nvPicPr>
          <p:cNvPr id="13" name="Picture 12">
            <a:hlinkClick r:id="rId6"/>
            <a:extLst>
              <a:ext uri="{FF2B5EF4-FFF2-40B4-BE49-F238E27FC236}">
                <a16:creationId xmlns:a16="http://schemas.microsoft.com/office/drawing/2014/main" id="{91DE39DD-2C3F-4F38-8D1F-81B1A887F25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3586" y="4666948"/>
            <a:ext cx="249797" cy="244482"/>
          </a:xfrm>
          <a:prstGeom prst="rect">
            <a:avLst/>
          </a:prstGeom>
        </p:spPr>
      </p:pic>
      <p:pic>
        <p:nvPicPr>
          <p:cNvPr id="14" name="Picture 13">
            <a:hlinkClick r:id="rId8"/>
            <a:extLst>
              <a:ext uri="{FF2B5EF4-FFF2-40B4-BE49-F238E27FC236}">
                <a16:creationId xmlns:a16="http://schemas.microsoft.com/office/drawing/2014/main" id="{E9F5DA81-82F1-4BFB-BF5B-037154C2B48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147" y="4656305"/>
            <a:ext cx="249797" cy="244482"/>
          </a:xfrm>
          <a:prstGeom prst="rect">
            <a:avLst/>
          </a:prstGeom>
        </p:spPr>
      </p:pic>
      <p:pic>
        <p:nvPicPr>
          <p:cNvPr id="15" name="Picture 14">
            <a:hlinkClick r:id="rId10"/>
            <a:extLst>
              <a:ext uri="{FF2B5EF4-FFF2-40B4-BE49-F238E27FC236}">
                <a16:creationId xmlns:a16="http://schemas.microsoft.com/office/drawing/2014/main" id="{40FFA310-EEC6-43DF-A2BD-86B9E9D4609D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693" y="4659389"/>
            <a:ext cx="249797" cy="244482"/>
          </a:xfrm>
          <a:prstGeom prst="rect">
            <a:avLst/>
          </a:prstGeom>
        </p:spPr>
      </p:pic>
      <p:pic>
        <p:nvPicPr>
          <p:cNvPr id="16" name="Picture 15">
            <a:hlinkClick r:id="rId12"/>
            <a:extLst>
              <a:ext uri="{FF2B5EF4-FFF2-40B4-BE49-F238E27FC236}">
                <a16:creationId xmlns:a16="http://schemas.microsoft.com/office/drawing/2014/main" id="{E8043BA9-52BA-475D-A922-9C4CD25813F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3739" y="4655328"/>
            <a:ext cx="249797" cy="24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652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651" y="234573"/>
            <a:ext cx="7010399" cy="4439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650" y="967341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9742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  <p:sldLayoutId id="2147483669" r:id="rId6"/>
    <p:sldLayoutId id="2147483670" r:id="rId7"/>
    <p:sldLayoutId id="2147483671" r:id="rId8"/>
    <p:sldLayoutId id="2147483668" r:id="rId9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rgbClr val="0E468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chemeClr val="tx1">
            <a:lumMod val="65000"/>
            <a:lumOff val="35000"/>
          </a:schemeClr>
        </a:buClr>
        <a:buFont typeface="Arial" panose="020B0604020202020204" pitchFamily="34" charset="0"/>
        <a:buChar char="•"/>
        <a:defRPr sz="2100" kern="1200">
          <a:solidFill>
            <a:schemeClr val="tx1">
              <a:lumMod val="65000"/>
              <a:lumOff val="3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rgbClr val="30A4DC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rgbClr val="0E468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9B442A9E-5BC2-F55E-AAD8-B007EF8F47B1}"/>
              </a:ext>
            </a:extLst>
          </p:cNvPr>
          <p:cNvSpPr txBox="1"/>
          <p:nvPr/>
        </p:nvSpPr>
        <p:spPr>
          <a:xfrm>
            <a:off x="494453" y="1408853"/>
            <a:ext cx="83582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 err="1">
                <a:solidFill>
                  <a:srgbClr val="FF0000"/>
                </a:solidFill>
              </a:rPr>
              <a:t>Mutiple</a:t>
            </a:r>
            <a:r>
              <a:rPr lang="en-US" altLang="zh-CN" sz="3600" b="1" dirty="0">
                <a:solidFill>
                  <a:srgbClr val="FF0000"/>
                </a:solidFill>
              </a:rPr>
              <a:t>-Teams Tenant  Direct Routing</a:t>
            </a:r>
          </a:p>
          <a:p>
            <a:r>
              <a:rPr lang="en-US" altLang="zh-CN" sz="3600" b="1" dirty="0">
                <a:solidFill>
                  <a:srgbClr val="FF0000"/>
                </a:solidFill>
              </a:rPr>
              <a:t>Configuration Guide</a:t>
            </a:r>
          </a:p>
        </p:txBody>
      </p:sp>
    </p:spTree>
    <p:extLst>
      <p:ext uri="{BB962C8B-B14F-4D97-AF65-F5344CB8AC3E}">
        <p14:creationId xmlns:p14="http://schemas.microsoft.com/office/powerpoint/2010/main" val="1696508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9B442A9E-5BC2-F55E-AAD8-B007EF8F47B1}"/>
              </a:ext>
            </a:extLst>
          </p:cNvPr>
          <p:cNvSpPr txBox="1"/>
          <p:nvPr/>
        </p:nvSpPr>
        <p:spPr>
          <a:xfrm>
            <a:off x="1686560" y="2181013"/>
            <a:ext cx="83582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Step 1 Create </a:t>
            </a:r>
            <a:r>
              <a:rPr lang="en-US" altLang="zh-CN" sz="2800" b="1" dirty="0" err="1">
                <a:solidFill>
                  <a:srgbClr val="FF0000"/>
                </a:solidFill>
              </a:rPr>
              <a:t>SubDomain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0507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327270" y="773704"/>
            <a:ext cx="8109177" cy="1094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1191" algn="just">
              <a:lnSpc>
                <a:spcPct val="150000"/>
              </a:lnSpc>
              <a:buNone/>
            </a:pPr>
            <a:r>
              <a:rPr 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1. Log in to the administrator page of Office365 as an administrator and open the domain name setting option</a:t>
            </a:r>
          </a:p>
          <a:p>
            <a:pPr marL="0" indent="1191" algn="just">
              <a:lnSpc>
                <a:spcPct val="150000"/>
              </a:lnSpc>
              <a:buNone/>
            </a:pPr>
            <a:r>
              <a:rPr 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2. Click Add domain name and add Subdomain as required </a:t>
            </a:r>
          </a:p>
          <a:p>
            <a:pPr marL="0" indent="1191" algn="just">
              <a:lnSpc>
                <a:spcPct val="150000"/>
              </a:lnSpc>
              <a:buNone/>
            </a:pPr>
            <a:r>
              <a:rPr lang="en-US" sz="1200" b="1" dirty="0" err="1">
                <a:solidFill>
                  <a:srgbClr val="FF0000"/>
                </a:solidFill>
              </a:rPr>
              <a:t>Subdomain:XXX.alc.aisesz.com</a:t>
            </a:r>
            <a:r>
              <a:rPr lang="en-US" sz="1200" b="1" dirty="0">
                <a:solidFill>
                  <a:srgbClr val="FF0000"/>
                </a:solidFill>
              </a:rPr>
              <a:t>—XXX—Customer Name</a:t>
            </a:r>
            <a:endParaRPr lang="en-US" sz="12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23862" y="222266"/>
            <a:ext cx="6172200" cy="422672"/>
          </a:xfrm>
        </p:spPr>
        <p:txBody>
          <a:bodyPr/>
          <a:lstStyle/>
          <a:p>
            <a:r>
              <a:rPr lang="en-US" dirty="0"/>
              <a:t>Add subdomain in Office 365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3B4CD01-B8FC-4EBF-8BCB-ABE12A415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44" y="2231714"/>
            <a:ext cx="3226282" cy="199183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FF95D09-D6C1-C668-F708-566CF6DA2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1297" y="2272789"/>
            <a:ext cx="2684415" cy="195753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53052FA-D3D2-8CC7-12D8-5263B43BCA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518" y="2254471"/>
            <a:ext cx="2547938" cy="188435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B925FFD-895D-9F28-59C2-6E83821742DB}"/>
              </a:ext>
            </a:extLst>
          </p:cNvPr>
          <p:cNvSpPr txBox="1"/>
          <p:nvPr/>
        </p:nvSpPr>
        <p:spPr>
          <a:xfrm>
            <a:off x="4572000" y="3095413"/>
            <a:ext cx="136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BE1A546-FD58-F861-4FCE-4F29817B120D}"/>
              </a:ext>
            </a:extLst>
          </p:cNvPr>
          <p:cNvSpPr txBox="1"/>
          <p:nvPr/>
        </p:nvSpPr>
        <p:spPr>
          <a:xfrm>
            <a:off x="3908213" y="2910747"/>
            <a:ext cx="29057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rgbClr val="FF0000"/>
                </a:solidFill>
              </a:rPr>
              <a:t>XXX. alc.aisesz.com</a:t>
            </a:r>
            <a:endParaRPr lang="zh-CN" altLang="en-US" sz="11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78CAA9C-0F7E-C76B-B2AE-4D008B5111EE}"/>
              </a:ext>
            </a:extLst>
          </p:cNvPr>
          <p:cNvSpPr txBox="1"/>
          <p:nvPr/>
        </p:nvSpPr>
        <p:spPr>
          <a:xfrm>
            <a:off x="6533613" y="3282043"/>
            <a:ext cx="268441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Choose </a:t>
            </a:r>
            <a:r>
              <a:rPr lang="en-US" altLang="zh-CN" sz="1200" b="1" dirty="0" err="1">
                <a:solidFill>
                  <a:srgbClr val="FF0000"/>
                </a:solidFill>
              </a:rPr>
              <a:t>option‘Add</a:t>
            </a:r>
            <a:r>
              <a:rPr lang="en-US" altLang="zh-CN" sz="1200" b="1" dirty="0">
                <a:solidFill>
                  <a:srgbClr val="FF0000"/>
                </a:solidFill>
              </a:rPr>
              <a:t> your own DNS Records</a:t>
            </a:r>
            <a:r>
              <a:rPr lang="en-US" altLang="zh-CN" dirty="0"/>
              <a:t>’ 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08758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340816" y="644938"/>
            <a:ext cx="8109177" cy="12684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1191" algn="just">
              <a:lnSpc>
                <a:spcPct val="150000"/>
              </a:lnSpc>
              <a:buNone/>
            </a:pPr>
            <a:r>
              <a:rPr 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TXT Record value from Microsoft respond ,The customer </a:t>
            </a:r>
            <a:r>
              <a:rPr lang="en-US" sz="1200" b="1" dirty="0">
                <a:solidFill>
                  <a:srgbClr val="FF0000"/>
                </a:solidFill>
              </a:rPr>
              <a:t>must be </a:t>
            </a:r>
            <a:r>
              <a:rPr 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send the Txt Record value to </a:t>
            </a:r>
            <a:r>
              <a:rPr lang="en-US" sz="12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ChinaTelecom.Waiting</a:t>
            </a:r>
            <a:r>
              <a:rPr 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for the </a:t>
            </a:r>
            <a:r>
              <a:rPr lang="en-US" sz="12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ChinaTelecom</a:t>
            </a:r>
            <a:r>
              <a:rPr 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add  the Txt  Record value to DNS Server,  Once the </a:t>
            </a:r>
            <a:r>
              <a:rPr lang="en-US" sz="12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chinaTelecom</a:t>
            </a:r>
            <a:r>
              <a:rPr 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2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finished.The</a:t>
            </a:r>
            <a:r>
              <a:rPr 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customer  click the verify to next.</a:t>
            </a:r>
          </a:p>
          <a:p>
            <a:pPr marL="0" indent="1191" algn="just">
              <a:lnSpc>
                <a:spcPct val="150000"/>
              </a:lnSpc>
              <a:buNone/>
            </a:pPr>
            <a:endParaRPr lang="en-US" sz="12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23862" y="222266"/>
            <a:ext cx="6172200" cy="422672"/>
          </a:xfrm>
        </p:spPr>
        <p:txBody>
          <a:bodyPr/>
          <a:lstStyle/>
          <a:p>
            <a:r>
              <a:rPr lang="en-US" altLang="zh-CN" sz="2100" dirty="0"/>
              <a:t>DNS  Record SRV</a:t>
            </a:r>
            <a:endParaRPr 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DC0F5E55-0C2D-B12D-416C-4A3BB164E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62" y="1913427"/>
            <a:ext cx="7142740" cy="279484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F4FB542B-0670-C25B-E3DA-5EE97E48E211}"/>
              </a:ext>
            </a:extLst>
          </p:cNvPr>
          <p:cNvSpPr txBox="1"/>
          <p:nvPr/>
        </p:nvSpPr>
        <p:spPr>
          <a:xfrm>
            <a:off x="1991360" y="3616960"/>
            <a:ext cx="5658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Send back the </a:t>
            </a:r>
            <a:r>
              <a:rPr lang="en-US" altLang="zh-CN" dirty="0" err="1">
                <a:solidFill>
                  <a:srgbClr val="FF0000"/>
                </a:solidFill>
              </a:rPr>
              <a:t>TxT</a:t>
            </a:r>
            <a:r>
              <a:rPr lang="en-US" altLang="zh-CN" dirty="0">
                <a:solidFill>
                  <a:srgbClr val="FF0000"/>
                </a:solidFill>
              </a:rPr>
              <a:t> name and TXT Value  and TTL to us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3854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BE3353F-4ED0-CCC3-81EC-113CC894732F}"/>
              </a:ext>
            </a:extLst>
          </p:cNvPr>
          <p:cNvSpPr txBox="1"/>
          <p:nvPr/>
        </p:nvSpPr>
        <p:spPr>
          <a:xfrm>
            <a:off x="121388" y="751823"/>
            <a:ext cx="8632616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Daytona" panose="020B0604020202020204" pitchFamily="34" charset="0"/>
              </a:rPr>
              <a:t>Do not select any Application(Exchange/</a:t>
            </a:r>
            <a:r>
              <a:rPr lang="en-US" altLang="zh-CN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Daytona" panose="020B0604020202020204" pitchFamily="34" charset="0"/>
              </a:rPr>
              <a:t>Sharepoint</a:t>
            </a:r>
            <a:r>
              <a:rPr lang="en-US" altLang="zh-CN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Daytona" panose="020B0604020202020204" pitchFamily="34" charset="0"/>
              </a:rPr>
              <a:t>/SFB),just click </a:t>
            </a:r>
            <a:r>
              <a:rPr lang="en-US" altLang="zh-CN" sz="1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Daytona" panose="020B0604020202020204" pitchFamily="34" charset="0"/>
              </a:rPr>
              <a:t>Next,then</a:t>
            </a:r>
            <a:r>
              <a:rPr lang="en-US" altLang="zh-CN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Daytona" panose="020B0604020202020204" pitchFamily="34" charset="0"/>
              </a:rPr>
              <a:t> Click Done ,You can using ping to verify the subdomain</a:t>
            </a:r>
          </a:p>
          <a:p>
            <a:r>
              <a:rPr lang="en-US" altLang="zh-CN" sz="1600" b="1" dirty="0">
                <a:solidFill>
                  <a:srgbClr val="FF0000"/>
                </a:solidFill>
              </a:rPr>
              <a:t>Ping can be used to verify whether </a:t>
            </a:r>
            <a:r>
              <a:rPr lang="en-US" altLang="zh-CN" sz="1600" b="1" dirty="0" err="1">
                <a:solidFill>
                  <a:srgbClr val="FF0000"/>
                </a:solidFill>
              </a:rPr>
              <a:t>subdomian</a:t>
            </a:r>
            <a:r>
              <a:rPr lang="en-US" altLang="zh-CN" sz="1600" b="1" dirty="0">
                <a:solidFill>
                  <a:srgbClr val="FF0000"/>
                </a:solidFill>
              </a:rPr>
              <a:t> parsing is </a:t>
            </a:r>
            <a:r>
              <a:rPr lang="en-US" altLang="zh-CN" sz="1600" b="1" dirty="0" err="1">
                <a:solidFill>
                  <a:srgbClr val="FF0000"/>
                </a:solidFill>
              </a:rPr>
              <a:t>successful,The</a:t>
            </a:r>
            <a:r>
              <a:rPr lang="en-US" altLang="zh-CN" sz="1600" b="1" dirty="0">
                <a:solidFill>
                  <a:srgbClr val="FF0000"/>
                </a:solidFill>
              </a:rPr>
              <a:t> public IP is 129.227.85.2,if </a:t>
            </a:r>
            <a:r>
              <a:rPr lang="en-US" altLang="zh-CN" sz="1600" b="1" dirty="0" err="1">
                <a:solidFill>
                  <a:srgbClr val="FF0000"/>
                </a:solidFill>
              </a:rPr>
              <a:t>no,maybe</a:t>
            </a:r>
            <a:r>
              <a:rPr lang="en-US" altLang="zh-CN" sz="1600" b="1" dirty="0">
                <a:solidFill>
                  <a:srgbClr val="FF0000"/>
                </a:solidFill>
              </a:rPr>
              <a:t> you need some time to wait the DNS Worked</a:t>
            </a:r>
          </a:p>
          <a:p>
            <a:endParaRPr lang="zh-CN" altLang="en-US" dirty="0">
              <a:solidFill>
                <a:srgbClr val="FF0000"/>
              </a:solidFill>
              <a:latin typeface="Daytona" panose="020B06040202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4A0C439-B32C-2246-D461-B40A5EEFA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15" y="2316480"/>
            <a:ext cx="7271176" cy="269938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DF6AD0A-59EF-9F7F-2EE3-4E71EF7838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88" y="1820735"/>
            <a:ext cx="5934075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58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9B442A9E-5BC2-F55E-AAD8-B007EF8F47B1}"/>
              </a:ext>
            </a:extLst>
          </p:cNvPr>
          <p:cNvSpPr txBox="1"/>
          <p:nvPr/>
        </p:nvSpPr>
        <p:spPr>
          <a:xfrm>
            <a:off x="1686560" y="2181013"/>
            <a:ext cx="83582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Step 2 Create Active User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9907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225670" y="716491"/>
            <a:ext cx="8109177" cy="1094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1191" algn="just">
              <a:lnSpc>
                <a:spcPct val="150000"/>
              </a:lnSpc>
              <a:buNone/>
            </a:pPr>
            <a:r>
              <a:rPr 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1. In the Users TAB, click to open Active Users</a:t>
            </a:r>
          </a:p>
          <a:p>
            <a:pPr marL="0" indent="1191" algn="just">
              <a:lnSpc>
                <a:spcPct val="150000"/>
              </a:lnSpc>
              <a:buNone/>
            </a:pPr>
            <a:r>
              <a:rPr 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2. Click Add User and select the Subdomain suffix</a:t>
            </a:r>
          </a:p>
          <a:p>
            <a:pPr marL="0" indent="1191" algn="just">
              <a:lnSpc>
                <a:spcPct val="150000"/>
              </a:lnSpc>
              <a:buNone/>
            </a:pPr>
            <a:r>
              <a:rPr 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3. Assign the Office 365 license and Phone System license to activate the user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23862" y="222266"/>
            <a:ext cx="6172200" cy="422672"/>
          </a:xfrm>
        </p:spPr>
        <p:txBody>
          <a:bodyPr/>
          <a:lstStyle/>
          <a:p>
            <a:r>
              <a:rPr lang="en-US" altLang="zh-CN" sz="2100"/>
              <a:t>Step2</a:t>
            </a:r>
            <a:r>
              <a:rPr lang="zh-CN" altLang="en-US" sz="2100"/>
              <a:t>：</a:t>
            </a:r>
            <a:r>
              <a:rPr lang="en-US" altLang="zh-CN" sz="2100"/>
              <a:t>Create Subdomain</a:t>
            </a:r>
            <a:r>
              <a:rPr lang="zh-CN" altLang="en-US" sz="2100"/>
              <a:t> </a:t>
            </a:r>
            <a:r>
              <a:rPr lang="en-US" altLang="zh-CN" sz="2100"/>
              <a:t>User</a:t>
            </a:r>
            <a:endParaRPr lang="en-US" dirty="0"/>
          </a:p>
        </p:txBody>
      </p:sp>
      <p:pic>
        <p:nvPicPr>
          <p:cNvPr id="3" name="图片 2" descr="图形用户界面, 应用程序, Teams&#10;&#10;描述已自动生成">
            <a:extLst>
              <a:ext uri="{FF2B5EF4-FFF2-40B4-BE49-F238E27FC236}">
                <a16:creationId xmlns:a16="http://schemas.microsoft.com/office/drawing/2014/main" id="{45383BEB-7E82-44E6-92DD-51F110B773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845" y="2078728"/>
            <a:ext cx="6416596" cy="284250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78DBC34-2C7A-20D1-EF8B-559257EE000C}"/>
              </a:ext>
            </a:extLst>
          </p:cNvPr>
          <p:cNvSpPr txBox="1"/>
          <p:nvPr/>
        </p:nvSpPr>
        <p:spPr>
          <a:xfrm>
            <a:off x="3509962" y="1755562"/>
            <a:ext cx="5107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FF0000"/>
                </a:solidFill>
              </a:rPr>
              <a:t>ActiveUser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TeamsVoice@xxx.</a:t>
            </a:r>
            <a:r>
              <a:rPr lang="en-US" altLang="zh-CN" sz="1800" b="1" dirty="0">
                <a:solidFill>
                  <a:srgbClr val="FF0000"/>
                </a:solidFill>
              </a:rPr>
              <a:t>alc.aisesz.com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6428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9B442A9E-5BC2-F55E-AAD8-B007EF8F47B1}"/>
              </a:ext>
            </a:extLst>
          </p:cNvPr>
          <p:cNvSpPr txBox="1"/>
          <p:nvPr/>
        </p:nvSpPr>
        <p:spPr>
          <a:xfrm>
            <a:off x="1686560" y="2181013"/>
            <a:ext cx="83582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Step 3 Create </a:t>
            </a:r>
            <a:r>
              <a:rPr lang="en-US" altLang="zh-CN" sz="2800" b="1" dirty="0" err="1">
                <a:solidFill>
                  <a:srgbClr val="FF0000"/>
                </a:solidFill>
              </a:rPr>
              <a:t>DialPlan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9787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225670" y="716491"/>
            <a:ext cx="8109177" cy="7489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1191" algn="just">
              <a:lnSpc>
                <a:spcPct val="150000"/>
              </a:lnSpc>
              <a:buNone/>
            </a:pPr>
            <a:r>
              <a:rPr 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1. On the Teams management screen, </a:t>
            </a:r>
            <a:r>
              <a:rPr lang="en-US" altLang="zh-CN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tap Voice</a:t>
            </a:r>
            <a:r>
              <a:rPr 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to open </a:t>
            </a:r>
            <a:r>
              <a:rPr lang="en-US" sz="12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DialPlan</a:t>
            </a:r>
            <a:endParaRPr lang="en-US" sz="12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1191" algn="just">
              <a:lnSpc>
                <a:spcPct val="150000"/>
              </a:lnSpc>
              <a:buNone/>
            </a:pPr>
            <a:r>
              <a:rPr 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2. Click Add to add </a:t>
            </a:r>
            <a:r>
              <a:rPr lang="en-US" sz="12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DialPlan</a:t>
            </a:r>
            <a:endParaRPr lang="en-US" altLang="zh-CN" sz="12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23862" y="222266"/>
            <a:ext cx="6172200" cy="422672"/>
          </a:xfrm>
        </p:spPr>
        <p:txBody>
          <a:bodyPr/>
          <a:lstStyle/>
          <a:p>
            <a:r>
              <a:rPr lang="en-US" altLang="zh-CN" sz="2100" dirty="0"/>
              <a:t>Step3</a:t>
            </a:r>
            <a:r>
              <a:rPr lang="zh-CN" altLang="en-US" sz="2100" dirty="0"/>
              <a:t>：</a:t>
            </a:r>
            <a:r>
              <a:rPr lang="en-US" altLang="zh-CN" sz="2100" dirty="0"/>
              <a:t>Create </a:t>
            </a:r>
            <a:r>
              <a:rPr lang="en-US" altLang="zh-CN" sz="2100" dirty="0" err="1"/>
              <a:t>DailPlan</a:t>
            </a:r>
            <a:endParaRPr 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2FF2DBF-FD7B-43CB-A15F-68FF8228F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260" y="1773771"/>
            <a:ext cx="5312909" cy="2748056"/>
          </a:xfrm>
          <a:prstGeom prst="rect">
            <a:avLst/>
          </a:prstGeom>
        </p:spPr>
      </p:pic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649C4E88-57E0-4011-857D-AC4DCF0469FF}"/>
              </a:ext>
            </a:extLst>
          </p:cNvPr>
          <p:cNvSpPr txBox="1">
            <a:spLocks/>
          </p:cNvSpPr>
          <p:nvPr/>
        </p:nvSpPr>
        <p:spPr>
          <a:xfrm>
            <a:off x="225670" y="4626826"/>
            <a:ext cx="8109177" cy="33329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tx1">
                  <a:lumMod val="65000"/>
                  <a:lumOff val="3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0A4DC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0E468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1191" algn="just">
              <a:lnSpc>
                <a:spcPct val="150000"/>
              </a:lnSpc>
              <a:buNone/>
            </a:pPr>
            <a:r>
              <a:rPr lang="en-US" altLang="zh-CN" sz="12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Note</a:t>
            </a:r>
            <a:r>
              <a:rPr lang="zh-CN" altLang="en-US" sz="12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：</a:t>
            </a:r>
            <a:r>
              <a:rPr lang="en-US" altLang="zh-CN" sz="12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DialPlan</a:t>
            </a:r>
            <a:r>
              <a:rPr lang="en-US" altLang="zh-CN" sz="12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can be set based on user requirements. However, ensure that the dialed number is retained</a:t>
            </a:r>
          </a:p>
        </p:txBody>
      </p:sp>
    </p:spTree>
    <p:extLst>
      <p:ext uri="{BB962C8B-B14F-4D97-AF65-F5344CB8AC3E}">
        <p14:creationId xmlns:p14="http://schemas.microsoft.com/office/powerpoint/2010/main" val="3213445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23862" y="222266"/>
            <a:ext cx="6172200" cy="422672"/>
          </a:xfrm>
        </p:spPr>
        <p:txBody>
          <a:bodyPr/>
          <a:lstStyle/>
          <a:p>
            <a:r>
              <a:rPr lang="en-US" altLang="zh-CN" sz="2100" dirty="0"/>
              <a:t>Step3</a:t>
            </a:r>
            <a:r>
              <a:rPr lang="zh-CN" altLang="en-US" sz="2100" dirty="0"/>
              <a:t>：</a:t>
            </a:r>
            <a:r>
              <a:rPr lang="en-US" altLang="zh-CN" sz="2100" dirty="0"/>
              <a:t>Create </a:t>
            </a:r>
            <a:r>
              <a:rPr lang="en-US" altLang="zh-CN" sz="2100" dirty="0" err="1"/>
              <a:t>DailPlan</a:t>
            </a:r>
            <a:r>
              <a:rPr lang="en-US" altLang="zh-CN" sz="2100" dirty="0"/>
              <a:t>-Rules</a:t>
            </a:r>
            <a:endParaRPr lang="en-US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BCA31DE-F26C-19CE-BF71-8BA8338FE5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4600800"/>
              </p:ext>
            </p:extLst>
          </p:nvPr>
        </p:nvGraphicFramePr>
        <p:xfrm>
          <a:off x="57807" y="816577"/>
          <a:ext cx="8636001" cy="364460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62826">
                  <a:extLst>
                    <a:ext uri="{9D8B030D-6E8A-4147-A177-3AD203B41FA5}">
                      <a16:colId xmlns:a16="http://schemas.microsoft.com/office/drawing/2014/main" val="1418603340"/>
                    </a:ext>
                  </a:extLst>
                </a:gridCol>
                <a:gridCol w="5430074">
                  <a:extLst>
                    <a:ext uri="{9D8B030D-6E8A-4147-A177-3AD203B41FA5}">
                      <a16:colId xmlns:a16="http://schemas.microsoft.com/office/drawing/2014/main" val="324831227"/>
                    </a:ext>
                  </a:extLst>
                </a:gridCol>
                <a:gridCol w="1943101">
                  <a:extLst>
                    <a:ext uri="{9D8B030D-6E8A-4147-A177-3AD203B41FA5}">
                      <a16:colId xmlns:a16="http://schemas.microsoft.com/office/drawing/2014/main" val="3885389430"/>
                    </a:ext>
                  </a:extLst>
                </a:gridCol>
              </a:tblGrid>
              <a:tr h="167787">
                <a:tc>
                  <a:txBody>
                    <a:bodyPr/>
                    <a:lstStyle/>
                    <a:p>
                      <a:pPr algn="l"/>
                      <a:r>
                        <a:rPr lang="en-US" sz="1100" kern="100">
                          <a:effectLst/>
                        </a:rPr>
                        <a:t>Name</a:t>
                      </a:r>
                      <a:endParaRPr lang="zh-CN" sz="12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kern="100" dirty="0" err="1">
                          <a:effectLst/>
                        </a:rPr>
                        <a:t>Patterm</a:t>
                      </a:r>
                      <a:endParaRPr lang="zh-CN" sz="12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kern="100">
                          <a:effectLst/>
                        </a:rPr>
                        <a:t>Translation</a:t>
                      </a:r>
                      <a:endParaRPr lang="zh-CN" sz="12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06236542"/>
                  </a:ext>
                </a:extLst>
              </a:tr>
              <a:tr h="283272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kern="100" dirty="0" err="1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LocalFixPhone</a:t>
                      </a:r>
                      <a:endParaRPr lang="zh-CN" sz="12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kern="100" dirty="0">
                          <a:effectLst/>
                        </a:rPr>
                        <a:t>^([2-8]\d{7})</a:t>
                      </a:r>
                      <a:endParaRPr lang="zh-CN" altLang="en-US" sz="12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kern="100" dirty="0">
                          <a:effectLst/>
                        </a:rPr>
                        <a:t>+86+Citycode$1 </a:t>
                      </a:r>
                      <a:r>
                        <a:rPr lang="en-US" altLang="zh-CN" sz="1200" kern="100" dirty="0" err="1">
                          <a:effectLst/>
                        </a:rPr>
                        <a:t>e.g:Suzhou</a:t>
                      </a:r>
                      <a:r>
                        <a:rPr lang="en-US" altLang="zh-CN" sz="1200" kern="100" dirty="0">
                          <a:effectLst/>
                        </a:rPr>
                        <a:t>:+86512$1,Shanghai:+8621$1</a:t>
                      </a:r>
                      <a:endParaRPr lang="zh-CN" altLang="zh-CN" sz="14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89360543"/>
                  </a:ext>
                </a:extLst>
              </a:tr>
              <a:tr h="211302">
                <a:tc>
                  <a:txBody>
                    <a:bodyPr/>
                    <a:lstStyle/>
                    <a:p>
                      <a:pPr algn="l"/>
                      <a:r>
                        <a:rPr lang="en-US" sz="1100" kern="100" dirty="0">
                          <a:effectLst/>
                        </a:rPr>
                        <a:t> </a:t>
                      </a:r>
                      <a:r>
                        <a:rPr lang="en-US" sz="1100" kern="100" dirty="0" err="1">
                          <a:effectLst/>
                        </a:rPr>
                        <a:t>LocalMobile</a:t>
                      </a:r>
                      <a:endParaRPr lang="zh-CN" sz="12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kern="100" dirty="0">
                          <a:effectLst/>
                        </a:rPr>
                        <a:t>^(1\d{10})$</a:t>
                      </a:r>
                      <a:endParaRPr lang="zh-CN" altLang="en-US" sz="1100" b="1" kern="100" dirty="0"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kern="100" dirty="0">
                          <a:effectLst/>
                        </a:rPr>
                        <a:t>+86$1</a:t>
                      </a:r>
                      <a:endParaRPr lang="zh-CN" sz="12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17897719"/>
                  </a:ext>
                </a:extLst>
              </a:tr>
              <a:tr h="211302">
                <a:tc>
                  <a:txBody>
                    <a:bodyPr/>
                    <a:lstStyle/>
                    <a:p>
                      <a:pPr algn="l"/>
                      <a:r>
                        <a:rPr lang="en-US" sz="1100" kern="100" dirty="0">
                          <a:effectLst/>
                        </a:rPr>
                        <a:t> </a:t>
                      </a:r>
                      <a:r>
                        <a:rPr lang="en-US" sz="1100" kern="100" dirty="0" err="1">
                          <a:effectLst/>
                        </a:rPr>
                        <a:t>LongdisMobile</a:t>
                      </a:r>
                      <a:endParaRPr lang="zh-CN" sz="12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00" dirty="0">
                          <a:effectLst/>
                        </a:rPr>
                        <a:t>^(01\d{10})$</a:t>
                      </a:r>
                      <a:endParaRPr lang="zh-CN" altLang="en-US" sz="1200" b="1" kern="100" dirty="0"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kern="100">
                          <a:effectLst/>
                        </a:rPr>
                        <a:t>+86$1</a:t>
                      </a:r>
                      <a:endParaRPr lang="zh-CN" sz="12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72792607"/>
                  </a:ext>
                </a:extLst>
              </a:tr>
              <a:tr h="422604">
                <a:tc>
                  <a:txBody>
                    <a:bodyPr/>
                    <a:lstStyle/>
                    <a:p>
                      <a:pPr algn="l"/>
                      <a:r>
                        <a:rPr lang="en-US" sz="1100" kern="100" dirty="0" err="1">
                          <a:effectLst/>
                        </a:rPr>
                        <a:t>LongdisFixPhone</a:t>
                      </a:r>
                      <a:endParaRPr lang="zh-CN" sz="12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kern="100" dirty="0">
                          <a:effectLst/>
                        </a:rPr>
                        <a:t>^0((([12]0|2[2-9])\d{5,8}|21\d{5,10}|[3-9][1-9]\d{5,9}|(701|90[1-9])\d{5,7}|80[2678]\d{5}|95\d{3}))\d*(\D+\d+)?$</a:t>
                      </a:r>
                      <a:endParaRPr lang="zh-CN" sz="12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kern="100" dirty="0">
                          <a:effectLst/>
                        </a:rPr>
                        <a:t>+86$1</a:t>
                      </a:r>
                      <a:endParaRPr lang="zh-CN" sz="12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92131025"/>
                  </a:ext>
                </a:extLst>
              </a:tr>
              <a:tr h="225750">
                <a:tc>
                  <a:txBody>
                    <a:bodyPr/>
                    <a:lstStyle/>
                    <a:p>
                      <a:pPr algn="l"/>
                      <a:r>
                        <a:rPr lang="en-US" sz="1100" kern="100">
                          <a:effectLst/>
                        </a:rPr>
                        <a:t>Trollfree</a:t>
                      </a:r>
                      <a:endParaRPr lang="zh-CN" sz="12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kern="100" dirty="0">
                          <a:effectLst/>
                        </a:rPr>
                        <a:t>^([48]00\d{7}|10800\d{7})\d*$</a:t>
                      </a:r>
                      <a:endParaRPr lang="zh-CN" sz="12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kern="100">
                          <a:effectLst/>
                        </a:rPr>
                        <a:t>+86$1</a:t>
                      </a:r>
                      <a:endParaRPr lang="zh-CN" sz="12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04040376"/>
                  </a:ext>
                </a:extLst>
              </a:tr>
              <a:tr h="211302">
                <a:tc>
                  <a:txBody>
                    <a:bodyPr/>
                    <a:lstStyle/>
                    <a:p>
                      <a:pPr algn="l"/>
                      <a:r>
                        <a:rPr lang="en-US" sz="1100" kern="100">
                          <a:effectLst/>
                        </a:rPr>
                        <a:t>Service</a:t>
                      </a:r>
                      <a:endParaRPr lang="zh-CN" sz="12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kern="100" dirty="0">
                          <a:effectLst/>
                        </a:rPr>
                        <a:t>^(999|1\d{2}|1\d{4}|9\d{4})$</a:t>
                      </a:r>
                      <a:endParaRPr lang="zh-CN" sz="12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kern="100" dirty="0">
                          <a:effectLst/>
                        </a:rPr>
                        <a:t>+86$1</a:t>
                      </a:r>
                      <a:endParaRPr lang="zh-CN" sz="12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40960414"/>
                  </a:ext>
                </a:extLst>
              </a:tr>
              <a:tr h="633905">
                <a:tc>
                  <a:txBody>
                    <a:bodyPr/>
                    <a:lstStyle/>
                    <a:p>
                      <a:pPr algn="l"/>
                      <a:r>
                        <a:rPr lang="en-US" sz="1100" kern="100" dirty="0" err="1">
                          <a:effectLst/>
                        </a:rPr>
                        <a:t>Internationcall</a:t>
                      </a:r>
                      <a:endParaRPr lang="zh-CN" sz="12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cs typeface="SimSun" panose="02010600030101010101" pitchFamily="2" charset="-122"/>
                        </a:rPr>
                        <a:t>^(?:\+|00)(1|7|2[07]|3[0-46]|39\d|4[013-9]|5[1-8]|6[0-6]|8[1246]|9[0-58]|2[1235689]\d|24[013-9]|242\d|3[578]\d|42\d|5[09]\d|6[789]\d|8[035789]\d|9[679]\d)(?:0)?(\d{6,14})(\D+\d+)?$</a:t>
                      </a:r>
                      <a:endParaRPr lang="zh-CN" sz="12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kern="100" dirty="0">
                          <a:effectLst/>
                        </a:rPr>
                        <a:t>+$1$2</a:t>
                      </a:r>
                      <a:endParaRPr lang="zh-CN" sz="12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14096352"/>
                  </a:ext>
                </a:extLst>
              </a:tr>
              <a:tr h="35702">
                <a:tc>
                  <a:txBody>
                    <a:bodyPr/>
                    <a:lstStyle/>
                    <a:p>
                      <a:pPr algn="l"/>
                      <a:r>
                        <a:rPr lang="en-US" sz="1100" kern="100" dirty="0">
                          <a:effectLst/>
                        </a:rPr>
                        <a:t>Operator </a:t>
                      </a:r>
                      <a:r>
                        <a:rPr lang="en-US" sz="1100" kern="100" dirty="0" err="1">
                          <a:effectLst/>
                        </a:rPr>
                        <a:t>Number+Extension</a:t>
                      </a:r>
                      <a:endParaRPr lang="zh-CN" altLang="en-US" sz="12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kern="100" dirty="0">
                          <a:effectLst/>
                        </a:rPr>
                        <a:t>^(\d{4})$  Extension=4digits</a:t>
                      </a:r>
                      <a:endParaRPr lang="zh-CN" altLang="en-US" sz="14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00" dirty="0">
                          <a:effectLst/>
                        </a:rPr>
                        <a:t>Operator </a:t>
                      </a:r>
                      <a:r>
                        <a:rPr lang="en-US" sz="1200" kern="100" dirty="0" err="1">
                          <a:effectLst/>
                        </a:rPr>
                        <a:t>Number;ext</a:t>
                      </a:r>
                      <a:r>
                        <a:rPr lang="en-US" sz="1200" kern="100" dirty="0">
                          <a:effectLst/>
                        </a:rPr>
                        <a:t>=$1(For example:+86512628888;ext=$1</a:t>
                      </a:r>
                      <a:endParaRPr lang="zh-CN" altLang="en-US" sz="14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/>
                      <a:endParaRPr lang="zh-CN" sz="12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926721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5758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9B442A9E-5BC2-F55E-AAD8-B007EF8F47B1}"/>
              </a:ext>
            </a:extLst>
          </p:cNvPr>
          <p:cNvSpPr txBox="1"/>
          <p:nvPr/>
        </p:nvSpPr>
        <p:spPr>
          <a:xfrm>
            <a:off x="1686560" y="2181013"/>
            <a:ext cx="83582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Step 4 Create PSTN Usage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6313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225670" y="716491"/>
            <a:ext cx="8109177" cy="714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1191" algn="just">
              <a:lnSpc>
                <a:spcPct val="150000"/>
              </a:lnSpc>
              <a:buNone/>
            </a:pPr>
            <a:r>
              <a:rPr 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1. On the Page for creating a Voice Routing Policy, click Add</a:t>
            </a:r>
          </a:p>
          <a:p>
            <a:pPr marL="0" indent="1191" algn="just">
              <a:lnSpc>
                <a:spcPct val="150000"/>
              </a:lnSpc>
              <a:buNone/>
            </a:pPr>
            <a:r>
              <a:rPr 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2. Add the CREATED PSTN Usage on the page that is displayed</a:t>
            </a:r>
            <a:endParaRPr lang="en-US" altLang="zh-CN" sz="12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23862" y="222266"/>
            <a:ext cx="6172200" cy="422672"/>
          </a:xfrm>
        </p:spPr>
        <p:txBody>
          <a:bodyPr/>
          <a:lstStyle/>
          <a:p>
            <a:r>
              <a:rPr lang="en-US" altLang="zh-CN" sz="2100" dirty="0"/>
              <a:t>Step4</a:t>
            </a:r>
            <a:r>
              <a:rPr lang="zh-CN" altLang="en-US" sz="2100" dirty="0"/>
              <a:t>：</a:t>
            </a:r>
            <a:r>
              <a:rPr lang="en-US" altLang="zh-CN" sz="2100" dirty="0"/>
              <a:t>Create Voice Routing Policy</a:t>
            </a:r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CA6A39F-EEFF-436E-AF30-BFB27F1A8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26" y="2273387"/>
            <a:ext cx="4389873" cy="187379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E2BCCC3-6524-4DC9-AB5A-A41A8968E5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473" y="2273387"/>
            <a:ext cx="4064000" cy="190465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D073B88-4909-9789-0C92-79705E546CBA}"/>
              </a:ext>
            </a:extLst>
          </p:cNvPr>
          <p:cNvSpPr txBox="1"/>
          <p:nvPr/>
        </p:nvSpPr>
        <p:spPr>
          <a:xfrm>
            <a:off x="5560908" y="4242343"/>
            <a:ext cx="3248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 err="1">
                <a:solidFill>
                  <a:srgbClr val="FF0000"/>
                </a:solidFill>
              </a:rPr>
              <a:t>PSTNUsage</a:t>
            </a:r>
            <a:r>
              <a:rPr lang="en-US" altLang="zh-CN" sz="1800" b="1" dirty="0">
                <a:solidFill>
                  <a:srgbClr val="FF0000"/>
                </a:solidFill>
              </a:rPr>
              <a:t> :customization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8895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9B442A9E-5BC2-F55E-AAD8-B007EF8F47B1}"/>
              </a:ext>
            </a:extLst>
          </p:cNvPr>
          <p:cNvSpPr txBox="1"/>
          <p:nvPr/>
        </p:nvSpPr>
        <p:spPr>
          <a:xfrm>
            <a:off x="1686560" y="2181013"/>
            <a:ext cx="83582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Step 5 Create Voice Routing 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1166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225670" y="644938"/>
            <a:ext cx="8109177" cy="16825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1191" algn="just">
              <a:lnSpc>
                <a:spcPct val="100000"/>
              </a:lnSpc>
              <a:buNone/>
            </a:pPr>
            <a:r>
              <a:rPr lang="en-US" altLang="zh-CN" sz="1100" b="1" dirty="0" err="1">
                <a:solidFill>
                  <a:srgbClr val="FF0000"/>
                </a:solidFill>
                <a:latin typeface="+mn-lt"/>
              </a:rPr>
              <a:t>Notic</a:t>
            </a:r>
            <a:r>
              <a:rPr lang="en-US" altLang="zh-CN" sz="1100" b="1" dirty="0">
                <a:solidFill>
                  <a:srgbClr val="FF0000"/>
                </a:solidFill>
                <a:latin typeface="+mn-lt"/>
              </a:rPr>
              <a:t>:</a:t>
            </a:r>
          </a:p>
          <a:p>
            <a:pPr marL="0" indent="1191" algn="just">
              <a:lnSpc>
                <a:spcPct val="100000"/>
              </a:lnSpc>
              <a:buNone/>
            </a:pPr>
            <a:r>
              <a:rPr lang="en-US" altLang="zh-CN" sz="1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PowerShell Version must be above 4.3</a:t>
            </a:r>
          </a:p>
          <a:p>
            <a:pPr marL="0" indent="1191" algn="just">
              <a:lnSpc>
                <a:spcPct val="100000"/>
              </a:lnSpc>
              <a:buNone/>
            </a:pPr>
            <a:r>
              <a:rPr lang="en-US" altLang="zh-CN" sz="1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Connection Teams Server command Via </a:t>
            </a:r>
            <a:r>
              <a:rPr lang="en-US" altLang="zh-CN" sz="10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Powershell</a:t>
            </a:r>
            <a:endParaRPr lang="en-US" altLang="zh-CN" sz="1000" b="1" dirty="0">
              <a:solidFill>
                <a:schemeClr val="accent1">
                  <a:lumMod val="60000"/>
                  <a:lumOff val="40000"/>
                </a:schemeClr>
              </a:solidFill>
              <a:latin typeface="+mn-lt"/>
            </a:endParaRPr>
          </a:p>
          <a:p>
            <a:pPr marL="0" indent="1191" algn="just">
              <a:lnSpc>
                <a:spcPct val="100000"/>
              </a:lnSpc>
              <a:buNone/>
            </a:pPr>
            <a:r>
              <a:rPr lang="en-US" altLang="zh-CN" sz="1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Install-Module </a:t>
            </a:r>
            <a:r>
              <a:rPr lang="en-US" altLang="zh-CN" sz="10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MicrosoftTeams</a:t>
            </a:r>
            <a:r>
              <a:rPr lang="en-US" altLang="zh-CN" sz="1000" b="1" dirty="0">
                <a:solidFill>
                  <a:srgbClr val="FF0000"/>
                </a:solidFill>
                <a:latin typeface="+mn-lt"/>
              </a:rPr>
              <a:t>( if don’t have install the Teams </a:t>
            </a:r>
            <a:r>
              <a:rPr lang="en-US" altLang="zh-CN" sz="1000" b="1" dirty="0" err="1">
                <a:solidFill>
                  <a:srgbClr val="FF0000"/>
                </a:solidFill>
                <a:latin typeface="+mn-lt"/>
              </a:rPr>
              <a:t>Moudle</a:t>
            </a:r>
            <a:r>
              <a:rPr lang="en-US" altLang="zh-CN" sz="1000" b="1" dirty="0">
                <a:solidFill>
                  <a:srgbClr val="FF0000"/>
                </a:solidFill>
                <a:latin typeface="+mn-lt"/>
              </a:rPr>
              <a:t> on </a:t>
            </a:r>
            <a:r>
              <a:rPr lang="en-US" altLang="zh-CN" sz="1000" b="1" dirty="0" err="1">
                <a:solidFill>
                  <a:srgbClr val="FF0000"/>
                </a:solidFill>
                <a:latin typeface="+mn-lt"/>
              </a:rPr>
              <a:t>Powershell</a:t>
            </a:r>
            <a:r>
              <a:rPr lang="en-US" altLang="zh-CN" sz="1000" b="1" dirty="0">
                <a:solidFill>
                  <a:srgbClr val="FF0000"/>
                </a:solidFill>
                <a:latin typeface="+mn-lt"/>
              </a:rPr>
              <a:t> ,should be install the Teams module on </a:t>
            </a:r>
            <a:r>
              <a:rPr lang="en-US" altLang="zh-CN" sz="1000" b="1" dirty="0" err="1">
                <a:solidFill>
                  <a:srgbClr val="FF0000"/>
                </a:solidFill>
                <a:latin typeface="+mn-lt"/>
              </a:rPr>
              <a:t>powershell</a:t>
            </a:r>
            <a:r>
              <a:rPr lang="en-US" altLang="zh-CN" sz="1000" b="1" dirty="0">
                <a:solidFill>
                  <a:srgbClr val="FF0000"/>
                </a:solidFill>
                <a:latin typeface="+mn-lt"/>
              </a:rPr>
              <a:t> first)</a:t>
            </a:r>
          </a:p>
          <a:p>
            <a:pPr marL="0" indent="1191" algn="just">
              <a:lnSpc>
                <a:spcPct val="100000"/>
              </a:lnSpc>
              <a:buNone/>
            </a:pPr>
            <a:r>
              <a:rPr lang="en-US" altLang="zh-CN" sz="1000" b="1" dirty="0">
                <a:solidFill>
                  <a:srgbClr val="00B0F0"/>
                </a:solidFill>
                <a:latin typeface="+mn-lt"/>
              </a:rPr>
              <a:t>Connect-</a:t>
            </a:r>
            <a:r>
              <a:rPr lang="en-US" altLang="zh-CN" sz="1000" b="1" dirty="0" err="1">
                <a:solidFill>
                  <a:srgbClr val="00B0F0"/>
                </a:solidFill>
                <a:latin typeface="+mn-lt"/>
              </a:rPr>
              <a:t>MicrosoftTeams</a:t>
            </a:r>
            <a:r>
              <a:rPr lang="en-US" altLang="zh-CN" sz="1000" b="1" dirty="0">
                <a:solidFill>
                  <a:srgbClr val="00B0F0"/>
                </a:solidFill>
                <a:latin typeface="+mn-lt"/>
              </a:rPr>
              <a:t> -Credential $credential </a:t>
            </a:r>
            <a:r>
              <a:rPr lang="en-US" altLang="zh-CN" sz="1000" b="1" dirty="0">
                <a:solidFill>
                  <a:srgbClr val="FF0000"/>
                </a:solidFill>
                <a:latin typeface="+mn-lt"/>
              </a:rPr>
              <a:t>(if installed </a:t>
            </a:r>
            <a:r>
              <a:rPr lang="en-US" altLang="zh-CN" sz="1000" b="1" dirty="0" err="1">
                <a:solidFill>
                  <a:srgbClr val="FF0000"/>
                </a:solidFill>
                <a:latin typeface="+mn-lt"/>
              </a:rPr>
              <a:t>theTeams</a:t>
            </a:r>
            <a:r>
              <a:rPr lang="en-US" altLang="zh-CN" sz="1000" b="1" dirty="0">
                <a:solidFill>
                  <a:srgbClr val="FF0000"/>
                </a:solidFill>
                <a:latin typeface="+mn-lt"/>
              </a:rPr>
              <a:t> module on </a:t>
            </a:r>
            <a:r>
              <a:rPr lang="en-US" altLang="zh-CN" sz="1000" b="1" dirty="0" err="1">
                <a:solidFill>
                  <a:srgbClr val="FF0000"/>
                </a:solidFill>
                <a:latin typeface="+mn-lt"/>
              </a:rPr>
              <a:t>powershell</a:t>
            </a:r>
            <a:r>
              <a:rPr lang="en-US" altLang="zh-CN" sz="10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CN" sz="1000" b="1" dirty="0" err="1">
                <a:solidFill>
                  <a:srgbClr val="FF0000"/>
                </a:solidFill>
                <a:latin typeface="+mn-lt"/>
              </a:rPr>
              <a:t>already,Can</a:t>
            </a:r>
            <a:r>
              <a:rPr lang="en-US" altLang="zh-CN" sz="1000" b="1" dirty="0">
                <a:solidFill>
                  <a:srgbClr val="FF0000"/>
                </a:solidFill>
                <a:latin typeface="+mn-lt"/>
              </a:rPr>
              <a:t> be use this CLI Command connectivity Teams Server directly)</a:t>
            </a:r>
          </a:p>
          <a:p>
            <a:pPr marL="0" indent="1191" algn="just">
              <a:lnSpc>
                <a:spcPct val="100000"/>
              </a:lnSpc>
              <a:buNone/>
            </a:pPr>
            <a:endParaRPr lang="en-US" altLang="zh-CN" sz="1000" b="1" dirty="0">
              <a:solidFill>
                <a:schemeClr val="accent1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23862" y="222266"/>
            <a:ext cx="6172200" cy="422672"/>
          </a:xfrm>
        </p:spPr>
        <p:txBody>
          <a:bodyPr/>
          <a:lstStyle/>
          <a:p>
            <a:r>
              <a:rPr lang="en-US" altLang="zh-CN" sz="1400" dirty="0"/>
              <a:t>Step5</a:t>
            </a:r>
            <a:r>
              <a:rPr lang="zh-CN" altLang="en-US" sz="1400" dirty="0"/>
              <a:t>：</a:t>
            </a:r>
            <a:r>
              <a:rPr lang="en-US" altLang="zh-CN" sz="1400" dirty="0"/>
              <a:t>Create </a:t>
            </a:r>
            <a:r>
              <a:rPr lang="en-US" altLang="zh-CN" sz="1400" dirty="0" err="1"/>
              <a:t>VoiceRouting</a:t>
            </a:r>
            <a:endParaRPr lang="en-US" sz="1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027B71B-EE62-51EF-7813-060294BF7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48" y="2390987"/>
            <a:ext cx="9058152" cy="268224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F605E47-4255-38C7-D94D-299E139F01A6}"/>
              </a:ext>
            </a:extLst>
          </p:cNvPr>
          <p:cNvSpPr txBox="1"/>
          <p:nvPr/>
        </p:nvSpPr>
        <p:spPr>
          <a:xfrm>
            <a:off x="85848" y="1990877"/>
            <a:ext cx="94127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002060"/>
                </a:solidFill>
              </a:rPr>
              <a:t>New-</a:t>
            </a:r>
            <a:r>
              <a:rPr lang="en-US" altLang="zh-CN" sz="1000" dirty="0" err="1">
                <a:solidFill>
                  <a:srgbClr val="002060"/>
                </a:solidFill>
              </a:rPr>
              <a:t>csonlineVoiceRoute</a:t>
            </a:r>
            <a:r>
              <a:rPr lang="en-US" altLang="zh-CN" sz="1000" dirty="0">
                <a:solidFill>
                  <a:srgbClr val="002060"/>
                </a:solidFill>
              </a:rPr>
              <a:t> "</a:t>
            </a:r>
            <a:r>
              <a:rPr lang="en-US" altLang="zh-CN" sz="1000" b="1" dirty="0">
                <a:solidFill>
                  <a:srgbClr val="FF0000"/>
                </a:solidFill>
              </a:rPr>
              <a:t>customization</a:t>
            </a:r>
            <a:r>
              <a:rPr lang="en-US" altLang="zh-CN" sz="1000" dirty="0">
                <a:solidFill>
                  <a:srgbClr val="002060"/>
                </a:solidFill>
              </a:rPr>
              <a:t>" -</a:t>
            </a:r>
            <a:r>
              <a:rPr lang="en-US" altLang="zh-CN" sz="1000" dirty="0" err="1">
                <a:solidFill>
                  <a:srgbClr val="002060"/>
                </a:solidFill>
              </a:rPr>
              <a:t>Numberpattern</a:t>
            </a:r>
            <a:r>
              <a:rPr lang="en-US" altLang="zh-CN" sz="1000" dirty="0">
                <a:solidFill>
                  <a:srgbClr val="002060"/>
                </a:solidFill>
              </a:rPr>
              <a:t> '^\+' -</a:t>
            </a:r>
            <a:r>
              <a:rPr lang="en-US" altLang="zh-CN" sz="1000" dirty="0" err="1">
                <a:solidFill>
                  <a:srgbClr val="002060"/>
                </a:solidFill>
              </a:rPr>
              <a:t>onlinepstngatewaylist</a:t>
            </a:r>
            <a:r>
              <a:rPr lang="en-US" altLang="zh-CN" sz="1000" dirty="0">
                <a:solidFill>
                  <a:srgbClr val="002060"/>
                </a:solidFill>
              </a:rPr>
              <a:t> </a:t>
            </a:r>
            <a:r>
              <a:rPr lang="en-US" altLang="zh-CN" sz="1000" b="1" dirty="0">
                <a:solidFill>
                  <a:srgbClr val="FF0000"/>
                </a:solidFill>
              </a:rPr>
              <a:t>xxx.aisesz.com </a:t>
            </a:r>
            <a:r>
              <a:rPr lang="en-US" altLang="zh-CN" sz="1000" dirty="0">
                <a:solidFill>
                  <a:srgbClr val="002060"/>
                </a:solidFill>
              </a:rPr>
              <a:t>-priority 1 -</a:t>
            </a:r>
            <a:r>
              <a:rPr lang="en-US" altLang="zh-CN" sz="1000" dirty="0" err="1">
                <a:solidFill>
                  <a:srgbClr val="002060"/>
                </a:solidFill>
              </a:rPr>
              <a:t>onlinepstnusage</a:t>
            </a:r>
            <a:r>
              <a:rPr lang="en-US" altLang="zh-CN" sz="1000" dirty="0">
                <a:solidFill>
                  <a:srgbClr val="002060"/>
                </a:solidFill>
              </a:rPr>
              <a:t> “</a:t>
            </a:r>
            <a:r>
              <a:rPr lang="en-US" altLang="zh-CN" sz="1000" b="1" dirty="0">
                <a:solidFill>
                  <a:srgbClr val="FF0000"/>
                </a:solidFill>
              </a:rPr>
              <a:t>same the define </a:t>
            </a:r>
            <a:r>
              <a:rPr lang="en-US" altLang="zh-CN" sz="1000" b="1" dirty="0" err="1">
                <a:solidFill>
                  <a:srgbClr val="FF0000"/>
                </a:solidFill>
              </a:rPr>
              <a:t>pstnusage</a:t>
            </a:r>
            <a:r>
              <a:rPr lang="en-US" altLang="zh-CN" sz="1000" b="1" dirty="0">
                <a:solidFill>
                  <a:srgbClr val="FF0000"/>
                </a:solidFill>
              </a:rPr>
              <a:t> name</a:t>
            </a:r>
            <a:r>
              <a:rPr lang="en-US" altLang="zh-CN" sz="1000" dirty="0">
                <a:solidFill>
                  <a:srgbClr val="002060"/>
                </a:solidFill>
              </a:rPr>
              <a:t>"</a:t>
            </a:r>
            <a:endParaRPr lang="zh-CN" altLang="en-US" sz="1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005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9B442A9E-5BC2-F55E-AAD8-B007EF8F47B1}"/>
              </a:ext>
            </a:extLst>
          </p:cNvPr>
          <p:cNvSpPr txBox="1"/>
          <p:nvPr/>
        </p:nvSpPr>
        <p:spPr>
          <a:xfrm>
            <a:off x="684106" y="1957493"/>
            <a:ext cx="83582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Step 6 Assign the DID Number and Policies to Teams User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8567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252763" y="730038"/>
            <a:ext cx="8109177" cy="2232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1191" algn="just">
              <a:lnSpc>
                <a:spcPct val="150000"/>
              </a:lnSpc>
              <a:buNone/>
            </a:pPr>
            <a:r>
              <a:rPr 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 Go to Teams user panel ,and select the User </a:t>
            </a:r>
          </a:p>
          <a:p>
            <a:pPr marL="0" indent="1191" algn="just">
              <a:lnSpc>
                <a:spcPct val="150000"/>
              </a:lnSpc>
              <a:buNone/>
            </a:pPr>
            <a:r>
              <a:rPr lang="en-US" altLang="zh-CN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zh-CN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、</a:t>
            </a:r>
            <a:r>
              <a:rPr lang="en-US" altLang="zh-CN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Select the Account ,and Edit, Set the DID Number</a:t>
            </a:r>
          </a:p>
          <a:p>
            <a:pPr marL="0" indent="1191" algn="just">
              <a:lnSpc>
                <a:spcPct val="150000"/>
              </a:lnSpc>
              <a:buNone/>
            </a:pPr>
            <a:r>
              <a:rPr lang="en-US" altLang="zh-CN" sz="1200" b="1" dirty="0" err="1">
                <a:solidFill>
                  <a:srgbClr val="FF0000"/>
                </a:solidFill>
              </a:rPr>
              <a:t>Notic</a:t>
            </a:r>
            <a:endParaRPr lang="en-US" altLang="zh-CN" sz="1200" b="1" dirty="0">
              <a:solidFill>
                <a:srgbClr val="FF0000"/>
              </a:solidFill>
            </a:endParaRPr>
          </a:p>
          <a:p>
            <a:pPr marL="0" indent="1191" algn="just">
              <a:lnSpc>
                <a:spcPct val="150000"/>
              </a:lnSpc>
              <a:buNone/>
            </a:pPr>
            <a:r>
              <a:rPr lang="en-US" altLang="zh-CN" sz="1200" b="1" dirty="0">
                <a:solidFill>
                  <a:srgbClr val="FF0000"/>
                </a:solidFill>
              </a:rPr>
              <a:t> Teams only mode– You can use this configuration .</a:t>
            </a:r>
          </a:p>
          <a:p>
            <a:pPr marL="0" indent="1191" algn="just">
              <a:lnSpc>
                <a:spcPct val="150000"/>
              </a:lnSpc>
              <a:buNone/>
            </a:pPr>
            <a:r>
              <a:rPr lang="en-US" altLang="zh-CN" sz="1200" b="1" dirty="0">
                <a:solidFill>
                  <a:srgbClr val="FF0000"/>
                </a:solidFill>
              </a:rPr>
              <a:t>If the island mode-should be ask Microsoft that how to migration to only Teams mode.</a:t>
            </a:r>
          </a:p>
          <a:p>
            <a:pPr marL="0" indent="1191" algn="just">
              <a:lnSpc>
                <a:spcPct val="150000"/>
              </a:lnSpc>
              <a:buNone/>
            </a:pPr>
            <a:endParaRPr lang="en-US" altLang="zh-CN" sz="12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23862" y="222266"/>
            <a:ext cx="6172200" cy="422672"/>
          </a:xfrm>
        </p:spPr>
        <p:txBody>
          <a:bodyPr/>
          <a:lstStyle/>
          <a:p>
            <a:r>
              <a:rPr lang="en-US" altLang="zh-CN" sz="2100" dirty="0"/>
              <a:t>Step6</a:t>
            </a:r>
            <a:r>
              <a:rPr lang="zh-CN" altLang="en-US" sz="2100" dirty="0"/>
              <a:t>：</a:t>
            </a:r>
            <a:r>
              <a:rPr lang="en-US" altLang="zh-CN" sz="2100" dirty="0"/>
              <a:t>Assign the DID Number to Teams User</a:t>
            </a:r>
            <a:endParaRPr 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40B2CE8-31CA-E6F0-27B8-9354C2641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16" y="2571750"/>
            <a:ext cx="4088944" cy="154477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A486488-D5A2-2FEE-CFC1-B3E3C2DC1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043" y="2571750"/>
            <a:ext cx="3901904" cy="16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913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252763" y="730038"/>
            <a:ext cx="8109177" cy="2232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1191" algn="just">
              <a:lnSpc>
                <a:spcPct val="150000"/>
              </a:lnSpc>
              <a:buNone/>
            </a:pPr>
            <a:r>
              <a:rPr 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 Go to Teams user panel ,and select the User </a:t>
            </a:r>
          </a:p>
          <a:p>
            <a:pPr marL="0" indent="1191" algn="just">
              <a:lnSpc>
                <a:spcPct val="150000"/>
              </a:lnSpc>
              <a:buNone/>
            </a:pPr>
            <a:r>
              <a:rPr lang="en-US" altLang="zh-CN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zh-CN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、</a:t>
            </a:r>
            <a:r>
              <a:rPr lang="en-US" altLang="zh-CN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Select the Account ,and Edit, Set the DID Number</a:t>
            </a:r>
          </a:p>
          <a:p>
            <a:pPr marL="0" indent="1191" algn="just">
              <a:lnSpc>
                <a:spcPct val="150000"/>
              </a:lnSpc>
              <a:buNone/>
            </a:pPr>
            <a:r>
              <a:rPr lang="en-US" altLang="zh-CN" sz="1200" b="1" dirty="0" err="1">
                <a:solidFill>
                  <a:srgbClr val="FF0000"/>
                </a:solidFill>
              </a:rPr>
              <a:t>Notic</a:t>
            </a:r>
            <a:endParaRPr lang="en-US" altLang="zh-CN" sz="1200" b="1" dirty="0">
              <a:solidFill>
                <a:srgbClr val="FF0000"/>
              </a:solidFill>
            </a:endParaRPr>
          </a:p>
          <a:p>
            <a:pPr marL="0" indent="1191" algn="just">
              <a:lnSpc>
                <a:spcPct val="150000"/>
              </a:lnSpc>
              <a:buNone/>
            </a:pPr>
            <a:r>
              <a:rPr lang="en-US" altLang="zh-CN" sz="1200" b="1" dirty="0">
                <a:solidFill>
                  <a:srgbClr val="FF0000"/>
                </a:solidFill>
              </a:rPr>
              <a:t> Teams only mode– You can use this configuration .</a:t>
            </a:r>
          </a:p>
          <a:p>
            <a:pPr marL="0" indent="1191" algn="just">
              <a:lnSpc>
                <a:spcPct val="150000"/>
              </a:lnSpc>
              <a:buNone/>
            </a:pPr>
            <a:r>
              <a:rPr lang="en-US" altLang="zh-CN" sz="1200" b="1" dirty="0">
                <a:solidFill>
                  <a:srgbClr val="FF0000"/>
                </a:solidFill>
              </a:rPr>
              <a:t>If the island mode-should be ask Microsoft that how to migration to only Teams mode.</a:t>
            </a:r>
          </a:p>
          <a:p>
            <a:pPr marL="0" indent="1191" algn="just">
              <a:lnSpc>
                <a:spcPct val="150000"/>
              </a:lnSpc>
              <a:buNone/>
            </a:pPr>
            <a:endParaRPr lang="en-US" altLang="zh-CN" sz="12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23861" y="222266"/>
            <a:ext cx="8774325" cy="422672"/>
          </a:xfrm>
        </p:spPr>
        <p:txBody>
          <a:bodyPr/>
          <a:lstStyle/>
          <a:p>
            <a:r>
              <a:rPr lang="en-US" altLang="zh-CN" sz="1800" dirty="0"/>
              <a:t>Step6</a:t>
            </a:r>
            <a:r>
              <a:rPr lang="zh-CN" altLang="en-US" sz="1800" dirty="0"/>
              <a:t>：</a:t>
            </a:r>
            <a:r>
              <a:rPr lang="en-US" altLang="zh-CN" sz="1800" dirty="0"/>
              <a:t>Assign the DID Number to Teams User-</a:t>
            </a:r>
            <a:r>
              <a:rPr lang="en-US" altLang="zh-CN" sz="1800" b="1" dirty="0">
                <a:solidFill>
                  <a:srgbClr val="FF0000"/>
                </a:solidFill>
              </a:rPr>
              <a:t>Batch allocation number</a:t>
            </a:r>
            <a:endParaRPr lang="en-US" sz="1800" b="1" dirty="0">
              <a:solidFill>
                <a:srgbClr val="FF0000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40B2CE8-31CA-E6F0-27B8-9354C2641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16" y="2571750"/>
            <a:ext cx="4088944" cy="154477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A486488-D5A2-2FEE-CFC1-B3E3C2DC1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043" y="2571750"/>
            <a:ext cx="3901904" cy="16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492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23861" y="222266"/>
            <a:ext cx="7026567" cy="422672"/>
          </a:xfrm>
        </p:spPr>
        <p:txBody>
          <a:bodyPr/>
          <a:lstStyle/>
          <a:p>
            <a:r>
              <a:rPr lang="en-US" altLang="zh-CN" sz="2100" dirty="0"/>
              <a:t>Step6</a:t>
            </a:r>
            <a:r>
              <a:rPr lang="zh-CN" altLang="en-US" sz="2100" dirty="0"/>
              <a:t>：</a:t>
            </a:r>
            <a:r>
              <a:rPr lang="en-US" altLang="zh-CN" sz="2100" dirty="0"/>
              <a:t>Assign policies to the Teams Phone System users</a:t>
            </a:r>
            <a:endParaRPr lang="en-US" dirty="0"/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AE02B6A0-FD5B-4398-A6BA-0D989ABE2C52}"/>
              </a:ext>
            </a:extLst>
          </p:cNvPr>
          <p:cNvSpPr txBox="1">
            <a:spLocks/>
          </p:cNvSpPr>
          <p:nvPr/>
        </p:nvSpPr>
        <p:spPr>
          <a:xfrm>
            <a:off x="80526" y="4632298"/>
            <a:ext cx="8109177" cy="38106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tx1">
                  <a:lumMod val="65000"/>
                  <a:lumOff val="3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0A4DC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0E468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1191" algn="just">
              <a:lnSpc>
                <a:spcPct val="150000"/>
              </a:lnSpc>
              <a:buNone/>
            </a:pPr>
            <a:r>
              <a:rPr lang="en-US" altLang="zh-CN" sz="1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Note</a:t>
            </a:r>
            <a:r>
              <a:rPr lang="zh-CN" altLang="en-US" sz="1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：</a:t>
            </a:r>
            <a:r>
              <a:rPr lang="en-US" altLang="zh-CN" sz="1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Make sure all users who use Teams voice have a Phone System license assigned to them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BAFDCBC-25A6-0BFF-9CD3-954C80D5F5E4}"/>
              </a:ext>
            </a:extLst>
          </p:cNvPr>
          <p:cNvSpPr txBox="1"/>
          <p:nvPr/>
        </p:nvSpPr>
        <p:spPr>
          <a:xfrm>
            <a:off x="80526" y="693284"/>
            <a:ext cx="8616434" cy="880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1191" algn="just">
              <a:lnSpc>
                <a:spcPct val="150000"/>
              </a:lnSpc>
              <a:buNone/>
            </a:pPr>
            <a:r>
              <a:rPr lang="en-US" altLang="zh-CN" sz="1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 Go to Teams user panel ,and select the User </a:t>
            </a:r>
          </a:p>
          <a:p>
            <a:pPr marL="0" indent="1191" algn="just">
              <a:lnSpc>
                <a:spcPct val="150000"/>
              </a:lnSpc>
              <a:buNone/>
            </a:pPr>
            <a:r>
              <a:rPr lang="en-US" altLang="zh-CN" sz="1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zh-CN" alt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、</a:t>
            </a:r>
            <a:r>
              <a:rPr lang="en-US" altLang="zh-CN" sz="1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Select the  </a:t>
            </a:r>
            <a:r>
              <a:rPr lang="en-US" altLang="zh-CN" sz="18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Policies,,and</a:t>
            </a:r>
            <a:r>
              <a:rPr lang="en-US" altLang="zh-CN" sz="1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Edit</a:t>
            </a:r>
            <a:r>
              <a:rPr lang="en-US" altLang="zh-C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endParaRPr lang="en-US" altLang="zh-CN" sz="1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BC048A1-FDAC-39E4-414A-C7DC1B686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1873"/>
            <a:ext cx="4003794" cy="190376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5E43DD4E-DE1F-368F-C3C9-B5BE26E9A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2975" y="1538934"/>
            <a:ext cx="4840499" cy="2369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923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35467" y="222266"/>
            <a:ext cx="9780693" cy="422672"/>
          </a:xfrm>
        </p:spPr>
        <p:txBody>
          <a:bodyPr/>
          <a:lstStyle/>
          <a:p>
            <a:r>
              <a:rPr lang="en-US" altLang="zh-CN" sz="1600" dirty="0"/>
              <a:t>Step6</a:t>
            </a:r>
            <a:r>
              <a:rPr lang="zh-CN" altLang="en-US" sz="1600" dirty="0"/>
              <a:t>：</a:t>
            </a:r>
            <a:r>
              <a:rPr lang="en-US" altLang="zh-CN" sz="1600" dirty="0"/>
              <a:t>Assign policies to the Teams Phone System users-</a:t>
            </a:r>
            <a:r>
              <a:rPr lang="en-US" altLang="zh-CN" sz="1600" b="1" dirty="0">
                <a:solidFill>
                  <a:srgbClr val="FF0000"/>
                </a:solidFill>
              </a:rPr>
              <a:t>Batch allocation policies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AE02B6A0-FD5B-4398-A6BA-0D989ABE2C52}"/>
              </a:ext>
            </a:extLst>
          </p:cNvPr>
          <p:cNvSpPr txBox="1">
            <a:spLocks/>
          </p:cNvSpPr>
          <p:nvPr/>
        </p:nvSpPr>
        <p:spPr>
          <a:xfrm>
            <a:off x="80526" y="4632298"/>
            <a:ext cx="8109177" cy="38106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tx1">
                  <a:lumMod val="65000"/>
                  <a:lumOff val="3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0A4DC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rgbClr val="0E468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1191" algn="just">
              <a:lnSpc>
                <a:spcPct val="150000"/>
              </a:lnSpc>
              <a:buNone/>
            </a:pPr>
            <a:r>
              <a:rPr lang="en-US" altLang="zh-CN" sz="1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Note</a:t>
            </a:r>
            <a:r>
              <a:rPr lang="zh-CN" altLang="en-US" sz="1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：</a:t>
            </a:r>
            <a:r>
              <a:rPr lang="en-US" altLang="zh-CN" sz="1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Make sure all users who use Teams voice have a Phone System license assigned to them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BAFDCBC-25A6-0BFF-9CD3-954C80D5F5E4}"/>
              </a:ext>
            </a:extLst>
          </p:cNvPr>
          <p:cNvSpPr txBox="1"/>
          <p:nvPr/>
        </p:nvSpPr>
        <p:spPr>
          <a:xfrm>
            <a:off x="80526" y="693284"/>
            <a:ext cx="8616434" cy="880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1191" algn="just">
              <a:lnSpc>
                <a:spcPct val="150000"/>
              </a:lnSpc>
              <a:buNone/>
            </a:pPr>
            <a:r>
              <a:rPr lang="en-US" altLang="zh-CN" sz="1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 Go to Teams user panel ,and select the User </a:t>
            </a:r>
          </a:p>
          <a:p>
            <a:pPr marL="0" indent="1191" algn="just">
              <a:lnSpc>
                <a:spcPct val="150000"/>
              </a:lnSpc>
              <a:buNone/>
            </a:pPr>
            <a:r>
              <a:rPr lang="en-US" altLang="zh-CN" sz="1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zh-CN" alt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、</a:t>
            </a:r>
            <a:r>
              <a:rPr lang="en-US" altLang="zh-CN" sz="1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Select the  </a:t>
            </a:r>
            <a:r>
              <a:rPr lang="en-US" altLang="zh-CN" sz="18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Policies,,and</a:t>
            </a:r>
            <a:r>
              <a:rPr lang="en-US" altLang="zh-CN" sz="1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Edit</a:t>
            </a:r>
            <a:r>
              <a:rPr lang="en-US" altLang="zh-C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endParaRPr lang="en-US" altLang="zh-CN" sz="1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BC048A1-FDAC-39E4-414A-C7DC1B686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1873"/>
            <a:ext cx="4003794" cy="190376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5E43DD4E-DE1F-368F-C3C9-B5BE26E9A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2975" y="1538934"/>
            <a:ext cx="4840499" cy="2369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46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9B442A9E-5BC2-F55E-AAD8-B007EF8F47B1}"/>
              </a:ext>
            </a:extLst>
          </p:cNvPr>
          <p:cNvSpPr txBox="1"/>
          <p:nvPr/>
        </p:nvSpPr>
        <p:spPr>
          <a:xfrm>
            <a:off x="684106" y="1957493"/>
            <a:ext cx="83582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Step 7 Verify the Dialpad on Teams Client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7319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23861" y="222266"/>
            <a:ext cx="7026567" cy="422672"/>
          </a:xfrm>
        </p:spPr>
        <p:txBody>
          <a:bodyPr/>
          <a:lstStyle/>
          <a:p>
            <a:r>
              <a:rPr lang="en-US" altLang="zh-CN" sz="2100" dirty="0"/>
              <a:t>Step7</a:t>
            </a:r>
            <a:r>
              <a:rPr lang="zh-CN" altLang="en-US" sz="2100" dirty="0"/>
              <a:t>：</a:t>
            </a:r>
            <a:r>
              <a:rPr lang="en-US" altLang="zh-CN" sz="2100" dirty="0"/>
              <a:t>Verify the Dialpad on Teams Client</a:t>
            </a:r>
            <a:endParaRPr 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A846888-B30B-E464-EC1E-6629FBDBA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" y="1283625"/>
            <a:ext cx="2920844" cy="373118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BD89EFD-32D0-EBA1-AB9B-2CEAA0030099}"/>
              </a:ext>
            </a:extLst>
          </p:cNvPr>
          <p:cNvSpPr txBox="1"/>
          <p:nvPr/>
        </p:nvSpPr>
        <p:spPr>
          <a:xfrm>
            <a:off x="338667" y="641116"/>
            <a:ext cx="8561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Normally: The DID number show the teams client ,if no ,you should be logout and login again ,or maybe you wait some time to waiting the Microsoft sync up</a:t>
            </a:r>
            <a:endParaRPr lang="zh-CN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0392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3F755572-5C17-E276-49BB-A6285EEDF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Outbound Rules</a:t>
            </a:r>
            <a:endParaRPr lang="zh-CN" altLang="en-US" dirty="0"/>
          </a:p>
        </p:txBody>
      </p:sp>
      <p:graphicFrame>
        <p:nvGraphicFramePr>
          <p:cNvPr id="7" name="表格 5">
            <a:extLst>
              <a:ext uri="{FF2B5EF4-FFF2-40B4-BE49-F238E27FC236}">
                <a16:creationId xmlns:a16="http://schemas.microsoft.com/office/drawing/2014/main" id="{8C60DA65-C3DC-8D7B-C88E-0F4C4E082E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194644"/>
              </p:ext>
            </p:extLst>
          </p:nvPr>
        </p:nvGraphicFramePr>
        <p:xfrm>
          <a:off x="247651" y="839893"/>
          <a:ext cx="8178799" cy="4368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799">
                  <a:extLst>
                    <a:ext uri="{9D8B030D-6E8A-4147-A177-3AD203B41FA5}">
                      <a16:colId xmlns:a16="http://schemas.microsoft.com/office/drawing/2014/main" val="27249264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9797433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7909244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13111145"/>
                    </a:ext>
                  </a:extLst>
                </a:gridCol>
              </a:tblGrid>
              <a:tr h="543781">
                <a:tc>
                  <a:txBody>
                    <a:bodyPr/>
                    <a:lstStyle/>
                    <a:p>
                      <a:r>
                        <a:rPr lang="en-US" altLang="zh-CN" dirty="0"/>
                        <a:t>Usage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Format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Teams E164 Example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Remark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358947"/>
                  </a:ext>
                </a:extLst>
              </a:tr>
              <a:tr h="564075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Teams Calling Party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+86512xxxxxxxxx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+8651262888002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5384663"/>
                  </a:ext>
                </a:extLst>
              </a:tr>
              <a:tr h="532712">
                <a:tc gridSpan="4">
                  <a:txBody>
                    <a:bodyPr/>
                    <a:lstStyle/>
                    <a:p>
                      <a:r>
                        <a:rPr lang="en-US" altLang="zh-CN" sz="1200" b="1" dirty="0"/>
                        <a:t>Outbound Call Rule</a:t>
                      </a:r>
                      <a:endParaRPr lang="zh-CN" altLang="en-US" sz="12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2710005"/>
                  </a:ext>
                </a:extLst>
              </a:tr>
              <a:tr h="532712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Local </a:t>
                      </a:r>
                      <a:r>
                        <a:rPr lang="en-US" altLang="zh-CN" sz="1200" dirty="0" err="1"/>
                        <a:t>FixPhone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err="1"/>
                        <a:t>xxxxxxxx</a:t>
                      </a:r>
                      <a:r>
                        <a:rPr lang="en-US" altLang="zh-CN" sz="1200" dirty="0"/>
                        <a:t> 8digits-e.g:62881234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+8651262881234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015897"/>
                  </a:ext>
                </a:extLst>
              </a:tr>
              <a:tr h="532712">
                <a:tc>
                  <a:txBody>
                    <a:bodyPr/>
                    <a:lstStyle/>
                    <a:p>
                      <a:r>
                        <a:rPr lang="en-US" altLang="zh-CN" sz="1200"/>
                        <a:t>LongDis </a:t>
                      </a:r>
                      <a:r>
                        <a:rPr lang="en-US" altLang="zh-CN" sz="1200" dirty="0" err="1"/>
                        <a:t>FixPhone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Area Code+Number-e.g:02162881234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+862162881234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186456"/>
                  </a:ext>
                </a:extLst>
              </a:tr>
              <a:tr h="532712">
                <a:tc>
                  <a:txBody>
                    <a:bodyPr/>
                    <a:lstStyle/>
                    <a:p>
                      <a:r>
                        <a:rPr lang="en-US" altLang="zh-CN" sz="1200" dirty="0" err="1"/>
                        <a:t>MobilePhone</a:t>
                      </a:r>
                      <a:r>
                        <a:rPr lang="en-US" altLang="zh-CN" sz="1200" dirty="0"/>
                        <a:t>-Local</a:t>
                      </a:r>
                    </a:p>
                    <a:p>
                      <a:r>
                        <a:rPr lang="en-US" altLang="zh-CN" sz="1200" dirty="0" err="1"/>
                        <a:t>MobilePhone-Longdistance</a:t>
                      </a:r>
                      <a:r>
                        <a:rPr lang="en-US" altLang="zh-CN" sz="1200" dirty="0"/>
                        <a:t> 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1xxxxxxxxxx 11digits-18612345678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01xxxxxxxxxx 12digits-018612345678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+8618612345678</a:t>
                      </a:r>
                    </a:p>
                    <a:p>
                      <a:r>
                        <a:rPr lang="en-US" altLang="zh-CN" sz="1200" dirty="0"/>
                        <a:t>+86018612345678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773500"/>
                  </a:ext>
                </a:extLst>
              </a:tr>
              <a:tr h="656767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International Call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00+Country Code+Number-e,g:0085262881234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+85287654321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937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2545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udioCodes Official PowerPoint Template .potx [Read-Only]" id="{C0123D77-4C14-4EBD-B743-693DC2589BCD}" vid="{13D128AC-7C69-4DBE-8603-EEF2625876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7F59544746E84F812C24F7CB2298B0" ma:contentTypeVersion="11" ma:contentTypeDescription="Create a new document." ma:contentTypeScope="" ma:versionID="f7ed1f083288ec45a11837a86fb7f0f2">
  <xsd:schema xmlns:xsd="http://www.w3.org/2001/XMLSchema" xmlns:xs="http://www.w3.org/2001/XMLSchema" xmlns:p="http://schemas.microsoft.com/office/2006/metadata/properties" xmlns:ns2="75789a61-4891-4dd7-960d-3cd39a99c4f0" xmlns:ns3="9fce0f3a-fdd1-4397-9681-6cc1bfe52185" xmlns:ns4="efcfdf01-424e-47da-88c1-be92930de8e8" targetNamespace="http://schemas.microsoft.com/office/2006/metadata/properties" ma:root="true" ma:fieldsID="c20248ff6d34056e28df9f2a413f3b02" ns2:_="" ns3:_="" ns4:_="">
    <xsd:import namespace="75789a61-4891-4dd7-960d-3cd39a99c4f0"/>
    <xsd:import namespace="9fce0f3a-fdd1-4397-9681-6cc1bfe52185"/>
    <xsd:import namespace="efcfdf01-424e-47da-88c1-be92930de8e8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SharedWithUsers" minOccurs="0"/>
                <xsd:element ref="ns3:SharingHintHash" minOccurs="0"/>
                <xsd:element ref="ns3:SharedWithDetails" minOccurs="0"/>
                <xsd:element ref="ns3:LastSharedByUser" minOccurs="0"/>
                <xsd:element ref="ns3:LastSharedByTime" minOccurs="0"/>
                <xsd:element ref="ns4:b47d534015914a23951ffc33de7abda8" minOccurs="0"/>
                <xsd:element ref="ns2:TaxCatchAll" minOccurs="0"/>
                <xsd:element ref="ns4:MediaServiceMetadata" minOccurs="0"/>
                <xsd:element ref="ns4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789a61-4891-4dd7-960d-3cd39a99c4f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18" nillable="true" ma:displayName="Taxonomy Catch All Column" ma:description="" ma:hidden="true" ma:list="{26ac62de-7afb-40a8-b16b-34eb1cef0bd4}" ma:internalName="TaxCatchAll" ma:showField="CatchAllData" ma:web="75789a61-4891-4dd7-960d-3cd39a99c4f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ce0f3a-fdd1-4397-9681-6cc1bfe5218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2" nillable="true" ma:displayName="Sharing Hint Hash" ma:internalName="SharingHintHash" ma:readOnly="true">
      <xsd:simpleType>
        <xsd:restriction base="dms:Text"/>
      </xsd:simple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4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5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cfdf01-424e-47da-88c1-be92930de8e8" elementFormDefault="qualified">
    <xsd:import namespace="http://schemas.microsoft.com/office/2006/documentManagement/types"/>
    <xsd:import namespace="http://schemas.microsoft.com/office/infopath/2007/PartnerControls"/>
    <xsd:element name="b47d534015914a23951ffc33de7abda8" ma:index="17" nillable="true" ma:taxonomy="true" ma:internalName="b47d534015914a23951ffc33de7abda8" ma:taxonomyFieldName="Key_x0020_Words" ma:displayName="Key Words" ma:readOnly="false" ma:default="" ma:fieldId="{b47d5340-1591-4a23-951f-fc33de7abda8}" ma:taxonomyMulti="true" ma:sspId="edcb6269-388b-4284-af61-4534c3948e12" ma:termSetId="6f0ec7a4-f74f-4916-919d-4d9c5888238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Metadata" ma:index="19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20" nillable="true" ma:displayName="MediaServiceFastMetadata" ma:description="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47d534015914a23951ffc33de7abda8 xmlns="efcfdf01-424e-47da-88c1-be92930de8e8">
      <Terms xmlns="http://schemas.microsoft.com/office/infopath/2007/PartnerControls"/>
    </b47d534015914a23951ffc33de7abda8>
    <TaxCatchAll xmlns="75789a61-4891-4dd7-960d-3cd39a99c4f0"/>
    <_dlc_DocId xmlns="75789a61-4891-4dd7-960d-3cd39a99c4f0">ZH3CX3VKCTEQ-59-9867</_dlc_DocId>
    <_dlc_DocIdUrl xmlns="75789a61-4891-4dd7-960d-3cd39a99c4f0">
      <Url>https://audiocodes365.sharepoint.com/Sales/_layouts/15/DocIdRedir.aspx?ID=ZH3CX3VKCTEQ-59-9867</Url>
      <Description>ZH3CX3VKCTEQ-59-9867</Description>
    </_dlc_DocIdUrl>
    <SharedWithUsers xmlns="9fce0f3a-fdd1-4397-9681-6cc1bfe52185">
      <UserInfo>
        <DisplayName>Andre Vieira</DisplayName>
        <AccountId>370</AccountId>
        <AccountType/>
      </UserInfo>
    </SharedWithUsers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E43170A-2C8A-4900-A099-897C1E734201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6736B34E-CB24-4AB1-99ED-08EA1DD00E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5789a61-4891-4dd7-960d-3cd39a99c4f0"/>
    <ds:schemaRef ds:uri="9fce0f3a-fdd1-4397-9681-6cc1bfe52185"/>
    <ds:schemaRef ds:uri="efcfdf01-424e-47da-88c1-be92930de8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83BA951-C68A-4878-8658-476118B4CA45}">
  <ds:schemaRefs>
    <ds:schemaRef ds:uri="http://purl.org/dc/elements/1.1/"/>
    <ds:schemaRef ds:uri="75789a61-4891-4dd7-960d-3cd39a99c4f0"/>
    <ds:schemaRef ds:uri="http://www.w3.org/XML/1998/namespace"/>
    <ds:schemaRef ds:uri="9fce0f3a-fdd1-4397-9681-6cc1bfe52185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efcfdf01-424e-47da-88c1-be92930de8e8"/>
    <ds:schemaRef ds:uri="http://schemas.microsoft.com/office/2006/metadata/properties"/>
    <ds:schemaRef ds:uri="http://purl.org/dc/dcmitype/"/>
  </ds:schemaRefs>
</ds:datastoreItem>
</file>

<file path=customXml/itemProps4.xml><?xml version="1.0" encoding="utf-8"?>
<ds:datastoreItem xmlns:ds="http://schemas.openxmlformats.org/officeDocument/2006/customXml" ds:itemID="{8B6150CF-AB20-4C57-9A9F-DAC0BBA62E1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11035</TotalTime>
  <Words>1023</Words>
  <Application>Microsoft Office PowerPoint</Application>
  <PresentationFormat>全屏显示(16:9)</PresentationFormat>
  <Paragraphs>115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9" baseType="lpstr">
      <vt:lpstr>DengXian</vt:lpstr>
      <vt:lpstr>宋体</vt:lpstr>
      <vt:lpstr>Arial</vt:lpstr>
      <vt:lpstr>Calibri</vt:lpstr>
      <vt:lpstr>Daytona</vt:lpstr>
      <vt:lpstr>Segoe UI</vt:lpstr>
      <vt:lpstr>Office Theme</vt:lpstr>
      <vt:lpstr>PowerPoint 演示文稿</vt:lpstr>
      <vt:lpstr>PowerPoint 演示文稿</vt:lpstr>
      <vt:lpstr>Add subdomain in Office 365</vt:lpstr>
      <vt:lpstr>DNS  Record SRV</vt:lpstr>
      <vt:lpstr>PowerPoint 演示文稿</vt:lpstr>
      <vt:lpstr>PowerPoint 演示文稿</vt:lpstr>
      <vt:lpstr>Step2：Create Subdomain User</vt:lpstr>
      <vt:lpstr>PowerPoint 演示文稿</vt:lpstr>
      <vt:lpstr>Step3：Create DailPlan</vt:lpstr>
      <vt:lpstr>Step3：Create DailPlan-Rules</vt:lpstr>
      <vt:lpstr>PowerPoint 演示文稿</vt:lpstr>
      <vt:lpstr>Step4：Create Voice Routing Policy</vt:lpstr>
      <vt:lpstr>PowerPoint 演示文稿</vt:lpstr>
      <vt:lpstr>Step5：Create VoiceRouting</vt:lpstr>
      <vt:lpstr>PowerPoint 演示文稿</vt:lpstr>
      <vt:lpstr>Step6：Assign the DID Number to Teams User</vt:lpstr>
      <vt:lpstr>Step6：Assign the DID Number to Teams User-Batch allocation number</vt:lpstr>
      <vt:lpstr>Step6：Assign policies to the Teams Phone System users</vt:lpstr>
      <vt:lpstr>Step6：Assign policies to the Teams Phone System users-Batch allocation policies</vt:lpstr>
      <vt:lpstr>PowerPoint 演示文稿</vt:lpstr>
      <vt:lpstr>Step7：Verify the Dialpad on Teams Client</vt:lpstr>
      <vt:lpstr>Outbound Rules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Golan Buznak</dc:creator>
  <cp:lastModifiedBy>Andy Yang</cp:lastModifiedBy>
  <cp:revision>216</cp:revision>
  <dcterms:created xsi:type="dcterms:W3CDTF">2017-11-05T10:06:03Z</dcterms:created>
  <dcterms:modified xsi:type="dcterms:W3CDTF">2024-03-27T11:06:39Z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0x010100CA7F59544746E84F812C24F7CB2298B0</vt:lpwstr>
  </property>
  <property fmtid="{D5CDD505-2E9C-101B-9397-08002B2CF9AE}" pid="3" name="_dlc_DocIdItemGuid">
    <vt:lpwstr>ef998c71-fd33-458a-960c-84c8e1f1ffa7</vt:lpwstr>
  </property>
  <property fmtid="{D5CDD505-2E9C-101B-9397-08002B2CF9AE}" pid="4" name="Key Words">
    <vt:lpwstr/>
  </property>
</Properties>
</file>